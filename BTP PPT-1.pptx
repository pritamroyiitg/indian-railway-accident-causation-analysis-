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officeDocument/2006/relationships/officeDocument" Target="ppt/presentation.xml" /><Relationship Id="rId1" Type="http://schemas.microsoft.com/office/2011/relationships/webextensiontaskpanes" Target="ppt/webextensions/taskpanes.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26" r:id="rId1"/>
  </p:sldMasterIdLst>
  <p:notesMasterIdLst>
    <p:notesMasterId r:id="rId17"/>
  </p:notesMasterIdLst>
  <p:sldIdLst>
    <p:sldId id="256" r:id="rId2"/>
    <p:sldId id="257" r:id="rId3"/>
    <p:sldId id="258" r:id="rId4"/>
    <p:sldId id="270" r:id="rId5"/>
    <p:sldId id="272" r:id="rId6"/>
    <p:sldId id="273" r:id="rId7"/>
    <p:sldId id="259" r:id="rId8"/>
    <p:sldId id="261" r:id="rId9"/>
    <p:sldId id="262" r:id="rId10"/>
    <p:sldId id="263" r:id="rId11"/>
    <p:sldId id="264" r:id="rId12"/>
    <p:sldId id="265" r:id="rId13"/>
    <p:sldId id="266" r:id="rId14"/>
    <p:sldId id="268" r:id="rId15"/>
    <p:sldId id="269" r:id="rId16"/>
  </p:sldIdLst>
  <p:sldSz cx="10693400" cy="7556500"/>
  <p:notesSz cx="10693400" cy="75565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83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50" autoAdjust="0"/>
    <p:restoredTop sz="95256" autoAdjust="0"/>
  </p:normalViewPr>
  <p:slideViewPr>
    <p:cSldViewPr>
      <p:cViewPr>
        <p:scale>
          <a:sx n="65" d="100"/>
          <a:sy n="65" d="100"/>
        </p:scale>
        <p:origin x="1714" y="37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31A5AA20-033E-453F-90AC-9DCC783DAA7B}" type="datetimeFigureOut">
              <a:rPr lang="en-IN" smtClean="0"/>
              <a:t>07-12-2023</a:t>
            </a:fld>
            <a:endParaRPr lang="en-IN"/>
          </a:p>
        </p:txBody>
      </p:sp>
      <p:sp>
        <p:nvSpPr>
          <p:cNvPr id="4" name="Slide Image Placeholder 3"/>
          <p:cNvSpPr>
            <a:spLocks noGrp="1" noRot="1" noChangeAspect="1"/>
          </p:cNvSpPr>
          <p:nvPr>
            <p:ph type="sldImg" idx="2"/>
          </p:nvPr>
        </p:nvSpPr>
        <p:spPr>
          <a:xfrm>
            <a:off x="3541713" y="944563"/>
            <a:ext cx="3609975" cy="25511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69975" y="3636963"/>
            <a:ext cx="8553450" cy="29749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177088"/>
            <a:ext cx="4633913" cy="379412"/>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057900" y="7177088"/>
            <a:ext cx="4632325" cy="379412"/>
          </a:xfrm>
          <a:prstGeom prst="rect">
            <a:avLst/>
          </a:prstGeom>
        </p:spPr>
        <p:txBody>
          <a:bodyPr vert="horz" lIns="91440" tIns="45720" rIns="91440" bIns="45720" rtlCol="0" anchor="b"/>
          <a:lstStyle>
            <a:lvl1pPr algn="r">
              <a:defRPr sz="1200"/>
            </a:lvl1pPr>
          </a:lstStyle>
          <a:p>
            <a:fld id="{E757987E-F102-495B-98FC-961EB9F9AF94}" type="slidenum">
              <a:rPr lang="en-IN" smtClean="0"/>
              <a:t>‹#›</a:t>
            </a:fld>
            <a:endParaRPr lang="en-IN"/>
          </a:p>
        </p:txBody>
      </p:sp>
    </p:spTree>
    <p:extLst>
      <p:ext uri="{BB962C8B-B14F-4D97-AF65-F5344CB8AC3E}">
        <p14:creationId xmlns:p14="http://schemas.microsoft.com/office/powerpoint/2010/main" val="1473856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757987E-F102-495B-98FC-961EB9F9AF94}" type="slidenum">
              <a:rPr lang="en-IN" smtClean="0"/>
              <a:t>1</a:t>
            </a:fld>
            <a:endParaRPr lang="en-IN"/>
          </a:p>
        </p:txBody>
      </p:sp>
    </p:spTree>
    <p:extLst>
      <p:ext uri="{BB962C8B-B14F-4D97-AF65-F5344CB8AC3E}">
        <p14:creationId xmlns:p14="http://schemas.microsoft.com/office/powerpoint/2010/main" val="679997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757987E-F102-495B-98FC-961EB9F9AF94}" type="slidenum">
              <a:rPr lang="en-IN" smtClean="0"/>
              <a:t>2</a:t>
            </a:fld>
            <a:endParaRPr lang="en-IN"/>
          </a:p>
        </p:txBody>
      </p:sp>
    </p:spTree>
    <p:extLst>
      <p:ext uri="{BB962C8B-B14F-4D97-AF65-F5344CB8AC3E}">
        <p14:creationId xmlns:p14="http://schemas.microsoft.com/office/powerpoint/2010/main" val="1986619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786" y="7052733"/>
            <a:ext cx="10690616" cy="50376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4" y="6979478"/>
            <a:ext cx="10690616" cy="70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962406" y="836253"/>
            <a:ext cx="8822055" cy="3929380"/>
          </a:xfrm>
        </p:spPr>
        <p:txBody>
          <a:bodyPr anchor="b">
            <a:normAutofit/>
          </a:bodyPr>
          <a:lstStyle>
            <a:lvl1pPr algn="l">
              <a:lnSpc>
                <a:spcPct val="85000"/>
              </a:lnSpc>
              <a:defRPr sz="8815" spc="-55"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964836" y="4909434"/>
            <a:ext cx="8822055" cy="1259417"/>
          </a:xfrm>
        </p:spPr>
        <p:txBody>
          <a:bodyPr lIns="91440" rIns="91440">
            <a:normAutofit/>
          </a:bodyPr>
          <a:lstStyle>
            <a:lvl1pPr marL="0" indent="0" algn="l">
              <a:buNone/>
              <a:defRPr sz="2645" cap="all" spc="220" baseline="0">
                <a:solidFill>
                  <a:schemeClr val="tx2"/>
                </a:solidFill>
                <a:latin typeface="+mj-lt"/>
              </a:defRPr>
            </a:lvl1pPr>
            <a:lvl2pPr marL="503789" indent="0" algn="ctr">
              <a:buNone/>
              <a:defRPr sz="2645"/>
            </a:lvl2pPr>
            <a:lvl3pPr marL="1007577" indent="0" algn="ctr">
              <a:buNone/>
              <a:defRPr sz="2645"/>
            </a:lvl3pPr>
            <a:lvl4pPr marL="1511366" indent="0" algn="ctr">
              <a:buNone/>
              <a:defRPr sz="2204"/>
            </a:lvl4pPr>
            <a:lvl5pPr marL="2015155" indent="0" algn="ctr">
              <a:buNone/>
              <a:defRPr sz="2204"/>
            </a:lvl5pPr>
            <a:lvl6pPr marL="2518943" indent="0" algn="ctr">
              <a:buNone/>
              <a:defRPr sz="2204"/>
            </a:lvl6pPr>
            <a:lvl7pPr marL="3022732" indent="0" algn="ctr">
              <a:buNone/>
              <a:defRPr sz="2204"/>
            </a:lvl7pPr>
            <a:lvl8pPr marL="3526521" indent="0" algn="ctr">
              <a:buNone/>
              <a:defRPr sz="2204"/>
            </a:lvl8pPr>
            <a:lvl9pPr marL="4030309" indent="0" algn="ctr">
              <a:buNone/>
              <a:defRPr sz="220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961636-94A7-41C5-A9D0-A97C53DDEAA7}" type="datetime1">
              <a:rPr lang="en-US" smtClean="0"/>
              <a:t>12/7/2023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9" name="Straight Connector 8"/>
          <p:cNvCxnSpPr/>
          <p:nvPr/>
        </p:nvCxnSpPr>
        <p:spPr>
          <a:xfrm>
            <a:off x="1059217" y="4785783"/>
            <a:ext cx="866165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6346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04F62F-A7A5-4AF7-8118-B0334A28B890}" type="datetime1">
              <a:rPr lang="en-US" smtClean="0"/>
              <a:t>12/7/2023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014222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786" y="7052733"/>
            <a:ext cx="10690616" cy="50376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4" y="6979478"/>
            <a:ext cx="10690616" cy="70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62406" y="836253"/>
            <a:ext cx="8822055" cy="3929380"/>
          </a:xfrm>
        </p:spPr>
        <p:txBody>
          <a:bodyPr anchor="b" anchorCtr="0">
            <a:normAutofit/>
          </a:bodyPr>
          <a:lstStyle>
            <a:lvl1pPr>
              <a:lnSpc>
                <a:spcPct val="85000"/>
              </a:lnSpc>
              <a:defRPr sz="8815"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962406" y="4906687"/>
            <a:ext cx="8822055" cy="1259417"/>
          </a:xfrm>
        </p:spPr>
        <p:txBody>
          <a:bodyPr lIns="91440" rIns="91440" anchor="t" anchorCtr="0">
            <a:normAutofit/>
          </a:bodyPr>
          <a:lstStyle>
            <a:lvl1pPr marL="0" indent="0">
              <a:buNone/>
              <a:defRPr sz="2645" cap="all" spc="220" baseline="0">
                <a:solidFill>
                  <a:schemeClr val="tx2"/>
                </a:solidFill>
                <a:latin typeface="+mj-lt"/>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36F51-16DA-492A-92FB-16830D934057}" type="datetime1">
              <a:rPr lang="en-US" smtClean="0"/>
              <a:t>12/7/2023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9" name="Straight Connector 8"/>
          <p:cNvCxnSpPr/>
          <p:nvPr/>
        </p:nvCxnSpPr>
        <p:spPr>
          <a:xfrm>
            <a:off x="1059217" y="4785783"/>
            <a:ext cx="866165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0552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962406" y="315796"/>
            <a:ext cx="8822055" cy="159851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62406" y="2033725"/>
            <a:ext cx="4330827" cy="44331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453634" y="2033728"/>
            <a:ext cx="4330827" cy="44331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F27009-5344-4D4C-9F07-DFA202022EA3}" type="datetime1">
              <a:rPr lang="en-US" smtClean="0"/>
              <a:t>12/7/2023</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539581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962406" y="315796"/>
            <a:ext cx="8822055" cy="15985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962406" y="2034076"/>
            <a:ext cx="4330827" cy="811274"/>
          </a:xfrm>
        </p:spPr>
        <p:txBody>
          <a:bodyPr lIns="91440" rIns="91440" anchor="ctr">
            <a:normAutofit/>
          </a:bodyPr>
          <a:lstStyle>
            <a:lvl1pPr marL="0" indent="0">
              <a:buNone/>
              <a:defRPr sz="2204" b="0" cap="all" baseline="0">
                <a:solidFill>
                  <a:schemeClr val="tx2"/>
                </a:solidFill>
              </a:defRPr>
            </a:lvl1pPr>
            <a:lvl2pPr marL="503789" indent="0">
              <a:buNone/>
              <a:defRPr sz="2204" b="1"/>
            </a:lvl2pPr>
            <a:lvl3pPr marL="1007577" indent="0">
              <a:buNone/>
              <a:defRPr sz="1983" b="1"/>
            </a:lvl3pPr>
            <a:lvl4pPr marL="1511366" indent="0">
              <a:buNone/>
              <a:defRPr sz="1763" b="1"/>
            </a:lvl4pPr>
            <a:lvl5pPr marL="2015155" indent="0">
              <a:buNone/>
              <a:defRPr sz="1763" b="1"/>
            </a:lvl5pPr>
            <a:lvl6pPr marL="2518943" indent="0">
              <a:buNone/>
              <a:defRPr sz="1763" b="1"/>
            </a:lvl6pPr>
            <a:lvl7pPr marL="3022732" indent="0">
              <a:buNone/>
              <a:defRPr sz="1763" b="1"/>
            </a:lvl7pPr>
            <a:lvl8pPr marL="3526521" indent="0">
              <a:buNone/>
              <a:defRPr sz="1763" b="1"/>
            </a:lvl8pPr>
            <a:lvl9pPr marL="4030309" indent="0">
              <a:buNone/>
              <a:defRPr sz="1763" b="1"/>
            </a:lvl9pPr>
          </a:lstStyle>
          <a:p>
            <a:pPr lvl="0"/>
            <a:r>
              <a:rPr lang="en-US"/>
              <a:t>Click to edit Master text styles</a:t>
            </a:r>
          </a:p>
        </p:txBody>
      </p:sp>
      <p:sp>
        <p:nvSpPr>
          <p:cNvPr id="4" name="Content Placeholder 3"/>
          <p:cNvSpPr>
            <a:spLocks noGrp="1"/>
          </p:cNvSpPr>
          <p:nvPr>
            <p:ph sz="half" idx="2"/>
          </p:nvPr>
        </p:nvSpPr>
        <p:spPr>
          <a:xfrm>
            <a:off x="962406" y="2845349"/>
            <a:ext cx="4330827" cy="36215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453634" y="2034076"/>
            <a:ext cx="4330827" cy="811274"/>
          </a:xfrm>
        </p:spPr>
        <p:txBody>
          <a:bodyPr lIns="91440" rIns="91440" anchor="ctr">
            <a:normAutofit/>
          </a:bodyPr>
          <a:lstStyle>
            <a:lvl1pPr marL="0" indent="0">
              <a:buNone/>
              <a:defRPr sz="2204" b="0" cap="all" baseline="0">
                <a:solidFill>
                  <a:schemeClr val="tx2"/>
                </a:solidFill>
              </a:defRPr>
            </a:lvl1pPr>
            <a:lvl2pPr marL="503789" indent="0">
              <a:buNone/>
              <a:defRPr sz="2204" b="1"/>
            </a:lvl2pPr>
            <a:lvl3pPr marL="1007577" indent="0">
              <a:buNone/>
              <a:defRPr sz="1983" b="1"/>
            </a:lvl3pPr>
            <a:lvl4pPr marL="1511366" indent="0">
              <a:buNone/>
              <a:defRPr sz="1763" b="1"/>
            </a:lvl4pPr>
            <a:lvl5pPr marL="2015155" indent="0">
              <a:buNone/>
              <a:defRPr sz="1763" b="1"/>
            </a:lvl5pPr>
            <a:lvl6pPr marL="2518943" indent="0">
              <a:buNone/>
              <a:defRPr sz="1763" b="1"/>
            </a:lvl6pPr>
            <a:lvl7pPr marL="3022732" indent="0">
              <a:buNone/>
              <a:defRPr sz="1763" b="1"/>
            </a:lvl7pPr>
            <a:lvl8pPr marL="3526521" indent="0">
              <a:buNone/>
              <a:defRPr sz="1763" b="1"/>
            </a:lvl8pPr>
            <a:lvl9pPr marL="4030309" indent="0">
              <a:buNone/>
              <a:defRPr sz="1763" b="1"/>
            </a:lvl9pPr>
          </a:lstStyle>
          <a:p>
            <a:pPr lvl="0"/>
            <a:r>
              <a:rPr lang="en-US"/>
              <a:t>Click to edit Master text styles</a:t>
            </a:r>
          </a:p>
        </p:txBody>
      </p:sp>
      <p:sp>
        <p:nvSpPr>
          <p:cNvPr id="6" name="Content Placeholder 5"/>
          <p:cNvSpPr>
            <a:spLocks noGrp="1"/>
          </p:cNvSpPr>
          <p:nvPr>
            <p:ph sz="quarter" idx="4"/>
          </p:nvPr>
        </p:nvSpPr>
        <p:spPr>
          <a:xfrm>
            <a:off x="5453634" y="2845349"/>
            <a:ext cx="4330827" cy="36215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5F85B4-77B8-45B9-9E6D-AEDD04DC5500}" type="datetime1">
              <a:rPr lang="en-US" smtClean="0"/>
              <a:t>12/7/2023</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780685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8B736-4019-42B4-85BB-7385330959DB}" type="datetime1">
              <a:rPr lang="en-US" smtClean="0"/>
              <a:t>12/7/2023</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324660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786" y="7052733"/>
            <a:ext cx="10690616" cy="50376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4" y="6979478"/>
            <a:ext cx="10690616" cy="70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47C3FEC-1B89-4187-A8E7-97B7492901A6}" type="datetime1">
              <a:rPr lang="en-US" smtClean="0"/>
              <a:t>12/7/2023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563885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3552881" cy="7556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543479" y="0"/>
            <a:ext cx="56140" cy="7556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01002" y="654896"/>
            <a:ext cx="2807018" cy="2518833"/>
          </a:xfrm>
        </p:spPr>
        <p:txBody>
          <a:bodyPr anchor="b">
            <a:normAutofit/>
          </a:bodyPr>
          <a:lstStyle>
            <a:lvl1pPr>
              <a:defRPr sz="3967"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046555" y="806027"/>
            <a:ext cx="5858207" cy="57933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01002" y="3224107"/>
            <a:ext cx="2807018" cy="3723294"/>
          </a:xfrm>
        </p:spPr>
        <p:txBody>
          <a:bodyPr lIns="91440" rIns="91440">
            <a:normAutofit/>
          </a:bodyPr>
          <a:lstStyle>
            <a:lvl1pPr marL="0" indent="0">
              <a:buNone/>
              <a:defRPr sz="1653">
                <a:solidFill>
                  <a:srgbClr val="FFFFFF"/>
                </a:solidFill>
              </a:defRPr>
            </a:lvl1pPr>
            <a:lvl2pPr marL="503789" indent="0">
              <a:buNone/>
              <a:defRPr sz="1322"/>
            </a:lvl2pPr>
            <a:lvl3pPr marL="1007577" indent="0">
              <a:buNone/>
              <a:defRPr sz="1102"/>
            </a:lvl3pPr>
            <a:lvl4pPr marL="1511366" indent="0">
              <a:buNone/>
              <a:defRPr sz="992"/>
            </a:lvl4pPr>
            <a:lvl5pPr marL="2015155" indent="0">
              <a:buNone/>
              <a:defRPr sz="992"/>
            </a:lvl5pPr>
            <a:lvl6pPr marL="2518943" indent="0">
              <a:buNone/>
              <a:defRPr sz="992"/>
            </a:lvl6pPr>
            <a:lvl7pPr marL="3022732" indent="0">
              <a:buNone/>
              <a:defRPr sz="992"/>
            </a:lvl7pPr>
            <a:lvl8pPr marL="3526521" indent="0">
              <a:buNone/>
              <a:defRPr sz="992"/>
            </a:lvl8pPr>
            <a:lvl9pPr marL="4030309" indent="0">
              <a:buNone/>
              <a:defRPr sz="992"/>
            </a:lvl9pPr>
          </a:lstStyle>
          <a:p>
            <a:pPr lvl="0"/>
            <a:r>
              <a:rPr lang="en-US"/>
              <a:t>Click to edit Master text styles</a:t>
            </a:r>
          </a:p>
        </p:txBody>
      </p:sp>
      <p:sp>
        <p:nvSpPr>
          <p:cNvPr id="5" name="Date Placeholder 4"/>
          <p:cNvSpPr>
            <a:spLocks noGrp="1"/>
          </p:cNvSpPr>
          <p:nvPr>
            <p:ph type="dt" sz="half" idx="10"/>
          </p:nvPr>
        </p:nvSpPr>
        <p:spPr>
          <a:xfrm>
            <a:off x="408293" y="7117728"/>
            <a:ext cx="2296652" cy="402314"/>
          </a:xfrm>
        </p:spPr>
        <p:txBody>
          <a:bodyPr/>
          <a:lstStyle>
            <a:lvl1pPr algn="l">
              <a:defRPr/>
            </a:lvl1pPr>
          </a:lstStyle>
          <a:p>
            <a:fld id="{5B688454-EA56-4967-A923-B74863A5ADBD}" type="datetime1">
              <a:rPr lang="en-US" smtClean="0"/>
              <a:t>12/7/2023</a:t>
            </a:fld>
            <a:endParaRPr lang="en-US"/>
          </a:p>
        </p:txBody>
      </p:sp>
      <p:sp>
        <p:nvSpPr>
          <p:cNvPr id="6" name="Footer Placeholder 5"/>
          <p:cNvSpPr>
            <a:spLocks noGrp="1"/>
          </p:cNvSpPr>
          <p:nvPr>
            <p:ph type="ftr" sz="quarter" idx="11"/>
          </p:nvPr>
        </p:nvSpPr>
        <p:spPr>
          <a:xfrm>
            <a:off x="4210526" y="7117728"/>
            <a:ext cx="4076859" cy="402314"/>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3041100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457472"/>
            <a:ext cx="10690616" cy="20990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4" y="5415686"/>
            <a:ext cx="10690616" cy="70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62406" y="5591810"/>
            <a:ext cx="8875522" cy="906780"/>
          </a:xfrm>
        </p:spPr>
        <p:txBody>
          <a:bodyPr tIns="0" bIns="0" anchor="b">
            <a:noAutofit/>
          </a:bodyPr>
          <a:lstStyle>
            <a:lvl1pPr>
              <a:defRPr sz="3967"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0693387" cy="5415686"/>
          </a:xfrm>
          <a:blipFill>
            <a:blip r:embed="rId2"/>
            <a:stretch>
              <a:fillRect/>
            </a:stretch>
          </a:blipFill>
        </p:spPr>
        <p:txBody>
          <a:bodyPr lIns="457200" tIns="457200" anchor="t"/>
          <a:lstStyle>
            <a:lvl1pPr marL="0" indent="0">
              <a:buNone/>
              <a:defRPr sz="3526">
                <a:solidFill>
                  <a:schemeClr val="bg1"/>
                </a:solidFill>
              </a:defRPr>
            </a:lvl1pPr>
            <a:lvl2pPr marL="503789" indent="0">
              <a:buNone/>
              <a:defRPr sz="3085"/>
            </a:lvl2pPr>
            <a:lvl3pPr marL="1007577" indent="0">
              <a:buNone/>
              <a:defRPr sz="2645"/>
            </a:lvl3pPr>
            <a:lvl4pPr marL="1511366" indent="0">
              <a:buNone/>
              <a:defRPr sz="2204"/>
            </a:lvl4pPr>
            <a:lvl5pPr marL="2015155" indent="0">
              <a:buNone/>
              <a:defRPr sz="2204"/>
            </a:lvl5pPr>
            <a:lvl6pPr marL="2518943" indent="0">
              <a:buNone/>
              <a:defRPr sz="2204"/>
            </a:lvl6pPr>
            <a:lvl7pPr marL="3022732" indent="0">
              <a:buNone/>
              <a:defRPr sz="2204"/>
            </a:lvl7pPr>
            <a:lvl8pPr marL="3526521" indent="0">
              <a:buNone/>
              <a:defRPr sz="2204"/>
            </a:lvl8pPr>
            <a:lvl9pPr marL="4030309" indent="0">
              <a:buNone/>
              <a:defRPr sz="2204"/>
            </a:lvl9pPr>
          </a:lstStyle>
          <a:p>
            <a:r>
              <a:rPr lang="en-US"/>
              <a:t>Click icon to add picture</a:t>
            </a:r>
            <a:endParaRPr lang="en-US" dirty="0"/>
          </a:p>
        </p:txBody>
      </p:sp>
      <p:sp>
        <p:nvSpPr>
          <p:cNvPr id="4" name="Text Placeholder 3"/>
          <p:cNvSpPr>
            <a:spLocks noGrp="1"/>
          </p:cNvSpPr>
          <p:nvPr>
            <p:ph type="body" sz="half" idx="2"/>
          </p:nvPr>
        </p:nvSpPr>
        <p:spPr>
          <a:xfrm>
            <a:off x="962405" y="6508665"/>
            <a:ext cx="8875522" cy="654897"/>
          </a:xfrm>
        </p:spPr>
        <p:txBody>
          <a:bodyPr lIns="91440" tIns="0" rIns="91440" bIns="0">
            <a:normAutofit/>
          </a:bodyPr>
          <a:lstStyle>
            <a:lvl1pPr marL="0" indent="0">
              <a:spcBef>
                <a:spcPts val="0"/>
              </a:spcBef>
              <a:spcAft>
                <a:spcPts val="661"/>
              </a:spcAft>
              <a:buNone/>
              <a:defRPr sz="1653">
                <a:solidFill>
                  <a:srgbClr val="FFFFFF"/>
                </a:solidFill>
              </a:defRPr>
            </a:lvl1pPr>
            <a:lvl2pPr marL="503789" indent="0">
              <a:buNone/>
              <a:defRPr sz="1322"/>
            </a:lvl2pPr>
            <a:lvl3pPr marL="1007577" indent="0">
              <a:buNone/>
              <a:defRPr sz="1102"/>
            </a:lvl3pPr>
            <a:lvl4pPr marL="1511366" indent="0">
              <a:buNone/>
              <a:defRPr sz="992"/>
            </a:lvl4pPr>
            <a:lvl5pPr marL="2015155" indent="0">
              <a:buNone/>
              <a:defRPr sz="992"/>
            </a:lvl5pPr>
            <a:lvl6pPr marL="2518943" indent="0">
              <a:buNone/>
              <a:defRPr sz="992"/>
            </a:lvl6pPr>
            <a:lvl7pPr marL="3022732" indent="0">
              <a:buNone/>
              <a:defRPr sz="992"/>
            </a:lvl7pPr>
            <a:lvl8pPr marL="3526521" indent="0">
              <a:buNone/>
              <a:defRPr sz="992"/>
            </a:lvl8pPr>
            <a:lvl9pPr marL="4030309" indent="0">
              <a:buNone/>
              <a:defRPr sz="992"/>
            </a:lvl9pPr>
          </a:lstStyle>
          <a:p>
            <a:pPr lvl="0"/>
            <a:r>
              <a:rPr lang="en-US"/>
              <a:t>Click to edit Master text styles</a:t>
            </a:r>
          </a:p>
        </p:txBody>
      </p:sp>
      <p:sp>
        <p:nvSpPr>
          <p:cNvPr id="5" name="Date Placeholder 4"/>
          <p:cNvSpPr>
            <a:spLocks noGrp="1"/>
          </p:cNvSpPr>
          <p:nvPr>
            <p:ph type="dt" sz="half" idx="10"/>
          </p:nvPr>
        </p:nvSpPr>
        <p:spPr/>
        <p:txBody>
          <a:bodyPr/>
          <a:lstStyle/>
          <a:p>
            <a:fld id="{66AB34A7-124D-47FD-B5AB-025793E5880F}" type="datetime1">
              <a:rPr lang="en-US" smtClean="0"/>
              <a:t>12/7/2023</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788330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E66740-A7CF-4B21-93F6-0F923203430E}" type="datetime1">
              <a:rPr lang="en-US" smtClean="0"/>
              <a:t>12/7/2023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932042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786" y="7052733"/>
            <a:ext cx="10690616" cy="50376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4" y="6979478"/>
            <a:ext cx="10690616" cy="70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7652465" y="457026"/>
            <a:ext cx="2305764" cy="63438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35172" y="457025"/>
            <a:ext cx="6783626" cy="6343824"/>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C5C5A6-BFAD-40CA-8418-2F6ECEC3BB5C}" type="datetime1">
              <a:rPr lang="en-US" smtClean="0"/>
              <a:t>12/7/2023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550706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052733"/>
            <a:ext cx="10693401" cy="50376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979477"/>
            <a:ext cx="10693401" cy="727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62406" y="315796"/>
            <a:ext cx="8822055" cy="159851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62405" y="2033725"/>
            <a:ext cx="8822056" cy="4433147"/>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62408" y="7117728"/>
            <a:ext cx="2168387" cy="402314"/>
          </a:xfrm>
          <a:prstGeom prst="rect">
            <a:avLst/>
          </a:prstGeom>
        </p:spPr>
        <p:txBody>
          <a:bodyPr vert="horz" lIns="91440" tIns="45720" rIns="91440" bIns="45720" rtlCol="0" anchor="ctr"/>
          <a:lstStyle>
            <a:lvl1pPr algn="l">
              <a:defRPr sz="992">
                <a:solidFill>
                  <a:srgbClr val="FFFFFF"/>
                </a:solidFill>
              </a:defRPr>
            </a:lvl1pPr>
          </a:lstStyle>
          <a:p>
            <a:fld id="{652286CD-F764-42A7-A8FD-1293A3C4CFD6}" type="datetime1">
              <a:rPr lang="en-US" smtClean="0"/>
              <a:t>12/7/2023</a:t>
            </a:fld>
            <a:endParaRPr lang="en-US"/>
          </a:p>
        </p:txBody>
      </p:sp>
      <p:sp>
        <p:nvSpPr>
          <p:cNvPr id="5" name="Footer Placeholder 4"/>
          <p:cNvSpPr>
            <a:spLocks noGrp="1"/>
          </p:cNvSpPr>
          <p:nvPr>
            <p:ph type="ftr" sz="quarter" idx="3"/>
          </p:nvPr>
        </p:nvSpPr>
        <p:spPr>
          <a:xfrm>
            <a:off x="3233092" y="7117728"/>
            <a:ext cx="4230001" cy="402314"/>
          </a:xfrm>
          <a:prstGeom prst="rect">
            <a:avLst/>
          </a:prstGeom>
        </p:spPr>
        <p:txBody>
          <a:bodyPr vert="horz" lIns="91440" tIns="45720" rIns="91440" bIns="45720" rtlCol="0" anchor="ctr"/>
          <a:lstStyle>
            <a:lvl1pPr algn="ctr">
              <a:defRPr sz="992"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8683528" y="7117728"/>
            <a:ext cx="1150756" cy="402314"/>
          </a:xfrm>
          <a:prstGeom prst="rect">
            <a:avLst/>
          </a:prstGeom>
        </p:spPr>
        <p:txBody>
          <a:bodyPr vert="horz" lIns="91440" tIns="45720" rIns="91440" bIns="45720" rtlCol="0" anchor="ctr"/>
          <a:lstStyle>
            <a:lvl1pPr algn="r">
              <a:defRPr sz="1157">
                <a:solidFill>
                  <a:srgbClr val="FFFFFF"/>
                </a:solidFill>
              </a:defRPr>
            </a:lvl1pPr>
          </a:lstStyle>
          <a:p>
            <a:fld id="{B6F15528-21DE-4FAA-801E-634DDDAF4B2B}" type="slidenum">
              <a:rPr lang="en-IN" smtClean="0"/>
              <a:t>‹#›</a:t>
            </a:fld>
            <a:endParaRPr lang="en-IN"/>
          </a:p>
        </p:txBody>
      </p:sp>
      <p:cxnSp>
        <p:nvCxnSpPr>
          <p:cNvPr id="10" name="Straight Connector 9"/>
          <p:cNvCxnSpPr/>
          <p:nvPr/>
        </p:nvCxnSpPr>
        <p:spPr>
          <a:xfrm>
            <a:off x="1046827" y="1914848"/>
            <a:ext cx="874185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1730539"/>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hdr="0" ftr="0" dt="0"/>
  <p:txStyles>
    <p:titleStyle>
      <a:lvl1pPr algn="l" defTabSz="1007577" rtl="0" eaLnBrk="1" latinLnBrk="0" hangingPunct="1">
        <a:lnSpc>
          <a:spcPct val="85000"/>
        </a:lnSpc>
        <a:spcBef>
          <a:spcPct val="0"/>
        </a:spcBef>
        <a:buNone/>
        <a:defRPr sz="5289" kern="1200" spc="-55" baseline="0">
          <a:solidFill>
            <a:schemeClr val="tx1">
              <a:lumMod val="75000"/>
              <a:lumOff val="25000"/>
            </a:schemeClr>
          </a:solidFill>
          <a:latin typeface="+mj-lt"/>
          <a:ea typeface="+mj-ea"/>
          <a:cs typeface="+mj-cs"/>
        </a:defRPr>
      </a:lvl1pPr>
    </p:titleStyle>
    <p:bodyStyle>
      <a:lvl1pPr marL="100758" indent="-100758" algn="l" defTabSz="1007577" rtl="0" eaLnBrk="1" latinLnBrk="0" hangingPunct="1">
        <a:lnSpc>
          <a:spcPct val="90000"/>
        </a:lnSpc>
        <a:spcBef>
          <a:spcPts val="1322"/>
        </a:spcBef>
        <a:spcAft>
          <a:spcPts val="220"/>
        </a:spcAft>
        <a:buClr>
          <a:schemeClr val="accent1"/>
        </a:buClr>
        <a:buSzPct val="100000"/>
        <a:buFont typeface="Calibri" panose="020F0502020204030204" pitchFamily="34" charset="0"/>
        <a:buChar char=" "/>
        <a:defRPr sz="2204" kern="1200">
          <a:solidFill>
            <a:schemeClr val="tx1">
              <a:lumMod val="75000"/>
              <a:lumOff val="25000"/>
            </a:schemeClr>
          </a:solidFill>
          <a:latin typeface="+mn-lt"/>
          <a:ea typeface="+mn-ea"/>
          <a:cs typeface="+mn-cs"/>
        </a:defRPr>
      </a:lvl1pPr>
      <a:lvl2pPr marL="423182" indent="-201515" algn="l" defTabSz="1007577" rtl="0" eaLnBrk="1" latinLnBrk="0" hangingPunct="1">
        <a:lnSpc>
          <a:spcPct val="90000"/>
        </a:lnSpc>
        <a:spcBef>
          <a:spcPts val="220"/>
        </a:spcBef>
        <a:spcAft>
          <a:spcPts val="441"/>
        </a:spcAft>
        <a:buClr>
          <a:schemeClr val="accent1"/>
        </a:buClr>
        <a:buFont typeface="Calibri" pitchFamily="34" charset="0"/>
        <a:buChar char="◦"/>
        <a:defRPr sz="1983" kern="1200">
          <a:solidFill>
            <a:schemeClr val="tx1">
              <a:lumMod val="75000"/>
              <a:lumOff val="25000"/>
            </a:schemeClr>
          </a:solidFill>
          <a:latin typeface="+mn-lt"/>
          <a:ea typeface="+mn-ea"/>
          <a:cs typeface="+mn-cs"/>
        </a:defRPr>
      </a:lvl2pPr>
      <a:lvl3pPr marL="624698" indent="-201515" algn="l" defTabSz="1007577" rtl="0" eaLnBrk="1" latinLnBrk="0" hangingPunct="1">
        <a:lnSpc>
          <a:spcPct val="90000"/>
        </a:lnSpc>
        <a:spcBef>
          <a:spcPts val="220"/>
        </a:spcBef>
        <a:spcAft>
          <a:spcPts val="441"/>
        </a:spcAft>
        <a:buClr>
          <a:schemeClr val="accent1"/>
        </a:buClr>
        <a:buFont typeface="Calibri" pitchFamily="34" charset="0"/>
        <a:buChar char="◦"/>
        <a:defRPr sz="1543" kern="1200">
          <a:solidFill>
            <a:schemeClr val="tx1">
              <a:lumMod val="75000"/>
              <a:lumOff val="25000"/>
            </a:schemeClr>
          </a:solidFill>
          <a:latin typeface="+mn-lt"/>
          <a:ea typeface="+mn-ea"/>
          <a:cs typeface="+mn-cs"/>
        </a:defRPr>
      </a:lvl3pPr>
      <a:lvl4pPr marL="826213" indent="-201515" algn="l" defTabSz="1007577" rtl="0" eaLnBrk="1" latinLnBrk="0" hangingPunct="1">
        <a:lnSpc>
          <a:spcPct val="90000"/>
        </a:lnSpc>
        <a:spcBef>
          <a:spcPts val="220"/>
        </a:spcBef>
        <a:spcAft>
          <a:spcPts val="441"/>
        </a:spcAft>
        <a:buClr>
          <a:schemeClr val="accent1"/>
        </a:buClr>
        <a:buFont typeface="Calibri" pitchFamily="34" charset="0"/>
        <a:buChar char="◦"/>
        <a:defRPr sz="1543" kern="1200">
          <a:solidFill>
            <a:schemeClr val="tx1">
              <a:lumMod val="75000"/>
              <a:lumOff val="25000"/>
            </a:schemeClr>
          </a:solidFill>
          <a:latin typeface="+mn-lt"/>
          <a:ea typeface="+mn-ea"/>
          <a:cs typeface="+mn-cs"/>
        </a:defRPr>
      </a:lvl4pPr>
      <a:lvl5pPr marL="1027729" indent="-201515" algn="l" defTabSz="1007577" rtl="0" eaLnBrk="1" latinLnBrk="0" hangingPunct="1">
        <a:lnSpc>
          <a:spcPct val="90000"/>
        </a:lnSpc>
        <a:spcBef>
          <a:spcPts val="220"/>
        </a:spcBef>
        <a:spcAft>
          <a:spcPts val="441"/>
        </a:spcAft>
        <a:buClr>
          <a:schemeClr val="accent1"/>
        </a:buClr>
        <a:buFont typeface="Calibri" pitchFamily="34" charset="0"/>
        <a:buChar char="◦"/>
        <a:defRPr sz="1543" kern="1200">
          <a:solidFill>
            <a:schemeClr val="tx1">
              <a:lumMod val="75000"/>
              <a:lumOff val="25000"/>
            </a:schemeClr>
          </a:solidFill>
          <a:latin typeface="+mn-lt"/>
          <a:ea typeface="+mn-ea"/>
          <a:cs typeface="+mn-cs"/>
        </a:defRPr>
      </a:lvl5pPr>
      <a:lvl6pPr marL="1212090" indent="-251894" algn="l" defTabSz="1007577" rtl="0" eaLnBrk="1" latinLnBrk="0" hangingPunct="1">
        <a:lnSpc>
          <a:spcPct val="90000"/>
        </a:lnSpc>
        <a:spcBef>
          <a:spcPts val="220"/>
        </a:spcBef>
        <a:spcAft>
          <a:spcPts val="441"/>
        </a:spcAft>
        <a:buClr>
          <a:schemeClr val="accent1"/>
        </a:buClr>
        <a:buFont typeface="Calibri" pitchFamily="34" charset="0"/>
        <a:buChar char="◦"/>
        <a:defRPr sz="1543" kern="1200">
          <a:solidFill>
            <a:schemeClr val="tx1">
              <a:lumMod val="75000"/>
              <a:lumOff val="25000"/>
            </a:schemeClr>
          </a:solidFill>
          <a:latin typeface="+mn-lt"/>
          <a:ea typeface="+mn-ea"/>
          <a:cs typeface="+mn-cs"/>
        </a:defRPr>
      </a:lvl6pPr>
      <a:lvl7pPr marL="1432470" indent="-251894" algn="l" defTabSz="1007577" rtl="0" eaLnBrk="1" latinLnBrk="0" hangingPunct="1">
        <a:lnSpc>
          <a:spcPct val="90000"/>
        </a:lnSpc>
        <a:spcBef>
          <a:spcPts val="220"/>
        </a:spcBef>
        <a:spcAft>
          <a:spcPts val="441"/>
        </a:spcAft>
        <a:buClr>
          <a:schemeClr val="accent1"/>
        </a:buClr>
        <a:buFont typeface="Calibri" pitchFamily="34" charset="0"/>
        <a:buChar char="◦"/>
        <a:defRPr sz="1543" kern="1200">
          <a:solidFill>
            <a:schemeClr val="tx1">
              <a:lumMod val="75000"/>
              <a:lumOff val="25000"/>
            </a:schemeClr>
          </a:solidFill>
          <a:latin typeface="+mn-lt"/>
          <a:ea typeface="+mn-ea"/>
          <a:cs typeface="+mn-cs"/>
        </a:defRPr>
      </a:lvl7pPr>
      <a:lvl8pPr marL="1652850" indent="-251894" algn="l" defTabSz="1007577" rtl="0" eaLnBrk="1" latinLnBrk="0" hangingPunct="1">
        <a:lnSpc>
          <a:spcPct val="90000"/>
        </a:lnSpc>
        <a:spcBef>
          <a:spcPts val="220"/>
        </a:spcBef>
        <a:spcAft>
          <a:spcPts val="441"/>
        </a:spcAft>
        <a:buClr>
          <a:schemeClr val="accent1"/>
        </a:buClr>
        <a:buFont typeface="Calibri" pitchFamily="34" charset="0"/>
        <a:buChar char="◦"/>
        <a:defRPr sz="1543" kern="1200">
          <a:solidFill>
            <a:schemeClr val="tx1">
              <a:lumMod val="75000"/>
              <a:lumOff val="25000"/>
            </a:schemeClr>
          </a:solidFill>
          <a:latin typeface="+mn-lt"/>
          <a:ea typeface="+mn-ea"/>
          <a:cs typeface="+mn-cs"/>
        </a:defRPr>
      </a:lvl8pPr>
      <a:lvl9pPr marL="1873230" indent="-251894" algn="l" defTabSz="1007577" rtl="0" eaLnBrk="1" latinLnBrk="0" hangingPunct="1">
        <a:lnSpc>
          <a:spcPct val="90000"/>
        </a:lnSpc>
        <a:spcBef>
          <a:spcPts val="220"/>
        </a:spcBef>
        <a:spcAft>
          <a:spcPts val="441"/>
        </a:spcAft>
        <a:buClr>
          <a:schemeClr val="accent1"/>
        </a:buClr>
        <a:buFont typeface="Calibri" pitchFamily="34" charset="0"/>
        <a:buChar char="◦"/>
        <a:defRPr sz="1543" kern="1200">
          <a:solidFill>
            <a:schemeClr val="tx1">
              <a:lumMod val="75000"/>
              <a:lumOff val="25000"/>
            </a:schemeClr>
          </a:solidFill>
          <a:latin typeface="+mn-lt"/>
          <a:ea typeface="+mn-ea"/>
          <a:cs typeface="+mn-cs"/>
        </a:defRPr>
      </a:lvl9pPr>
    </p:bodyStyle>
    <p:otherStyle>
      <a:defPPr>
        <a:defRPr lang="en-US"/>
      </a:defPPr>
      <a:lvl1pPr marL="0" algn="l" defTabSz="1007577" rtl="0" eaLnBrk="1" latinLnBrk="0" hangingPunct="1">
        <a:defRPr sz="1983" kern="1200">
          <a:solidFill>
            <a:schemeClr val="tx1"/>
          </a:solidFill>
          <a:latin typeface="+mn-lt"/>
          <a:ea typeface="+mn-ea"/>
          <a:cs typeface="+mn-cs"/>
        </a:defRPr>
      </a:lvl1pPr>
      <a:lvl2pPr marL="503789" algn="l" defTabSz="1007577" rtl="0" eaLnBrk="1" latinLnBrk="0" hangingPunct="1">
        <a:defRPr sz="1983" kern="1200">
          <a:solidFill>
            <a:schemeClr val="tx1"/>
          </a:solidFill>
          <a:latin typeface="+mn-lt"/>
          <a:ea typeface="+mn-ea"/>
          <a:cs typeface="+mn-cs"/>
        </a:defRPr>
      </a:lvl2pPr>
      <a:lvl3pPr marL="1007577" algn="l" defTabSz="1007577" rtl="0" eaLnBrk="1" latinLnBrk="0" hangingPunct="1">
        <a:defRPr sz="1983" kern="1200">
          <a:solidFill>
            <a:schemeClr val="tx1"/>
          </a:solidFill>
          <a:latin typeface="+mn-lt"/>
          <a:ea typeface="+mn-ea"/>
          <a:cs typeface="+mn-cs"/>
        </a:defRPr>
      </a:lvl3pPr>
      <a:lvl4pPr marL="1511366" algn="l" defTabSz="1007577" rtl="0" eaLnBrk="1" latinLnBrk="0" hangingPunct="1">
        <a:defRPr sz="1983" kern="1200">
          <a:solidFill>
            <a:schemeClr val="tx1"/>
          </a:solidFill>
          <a:latin typeface="+mn-lt"/>
          <a:ea typeface="+mn-ea"/>
          <a:cs typeface="+mn-cs"/>
        </a:defRPr>
      </a:lvl4pPr>
      <a:lvl5pPr marL="2015155" algn="l" defTabSz="1007577" rtl="0" eaLnBrk="1" latinLnBrk="0" hangingPunct="1">
        <a:defRPr sz="1983" kern="1200">
          <a:solidFill>
            <a:schemeClr val="tx1"/>
          </a:solidFill>
          <a:latin typeface="+mn-lt"/>
          <a:ea typeface="+mn-ea"/>
          <a:cs typeface="+mn-cs"/>
        </a:defRPr>
      </a:lvl5pPr>
      <a:lvl6pPr marL="2518943" algn="l" defTabSz="1007577" rtl="0" eaLnBrk="1" latinLnBrk="0" hangingPunct="1">
        <a:defRPr sz="1983" kern="1200">
          <a:solidFill>
            <a:schemeClr val="tx1"/>
          </a:solidFill>
          <a:latin typeface="+mn-lt"/>
          <a:ea typeface="+mn-ea"/>
          <a:cs typeface="+mn-cs"/>
        </a:defRPr>
      </a:lvl6pPr>
      <a:lvl7pPr marL="3022732" algn="l" defTabSz="1007577" rtl="0" eaLnBrk="1" latinLnBrk="0" hangingPunct="1">
        <a:defRPr sz="1983" kern="1200">
          <a:solidFill>
            <a:schemeClr val="tx1"/>
          </a:solidFill>
          <a:latin typeface="+mn-lt"/>
          <a:ea typeface="+mn-ea"/>
          <a:cs typeface="+mn-cs"/>
        </a:defRPr>
      </a:lvl7pPr>
      <a:lvl8pPr marL="3526521" algn="l" defTabSz="1007577" rtl="0" eaLnBrk="1" latinLnBrk="0" hangingPunct="1">
        <a:defRPr sz="1983" kern="1200">
          <a:solidFill>
            <a:schemeClr val="tx1"/>
          </a:solidFill>
          <a:latin typeface="+mn-lt"/>
          <a:ea typeface="+mn-ea"/>
          <a:cs typeface="+mn-cs"/>
        </a:defRPr>
      </a:lvl8pPr>
      <a:lvl9pPr marL="4030309" algn="l" defTabSz="1007577" rtl="0" eaLnBrk="1" latinLnBrk="0" hangingPunct="1">
        <a:defRPr sz="198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notesSlide" Target="../notesSlides/notesSlide1.xml"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hyperlink" Target="https://irtpms.indianrailways.gov.in/site/wp-content/uploads/2022/03/Year-Book-2020-21-English.pdf" TargetMode="External"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hyperlink" Target="https://en.wikipedia.org/wiki/Zones_and_divisions_of_Indian_Railways#cite_note-scr-45" TargetMode="External"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hyperlink" Target="https://en.wikipedia.org/wiki/Zones_and_divisions_of_Indian_Railways#cite_note-scr-45" TargetMode="External"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image" Target="../media/image30.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hyperlink" Target="https://doi.org/10.1016/j.physa.2011.12.061" TargetMode="External"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2" Type="http://schemas.openxmlformats.org/officeDocument/2006/relationships/hyperlink" Target="https://www.researchgate.net/publication/330543820_Trends_in_Causes_and_Impacts_of_Accidents_in_Indian_Railway" TargetMode="External"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2" Type="http://schemas.openxmlformats.org/officeDocument/2006/relationships/hyperlink" Target="https://www.researchgate.net/publication/330543850_Railway_Disasters_in_India_Causes_Effects_and_Management" TargetMode="External"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2" Type="http://schemas.openxmlformats.org/officeDocument/2006/relationships/hyperlink" Target="https://link.springer.com/chapter/10.1007/978-981-15-3746-2_28" TargetMode="External"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2" Type="http://schemas.openxmlformats.org/officeDocument/2006/relationships/hyperlink" Target="https://papers.ssrn.com/sol3/papers.cfm?abstract_id=3101403" TargetMode="External"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6E4BE6-4C2D-70F7-353B-76BF195BAADC}"/>
              </a:ext>
            </a:extLst>
          </p:cNvPr>
          <p:cNvSpPr/>
          <p:nvPr/>
        </p:nvSpPr>
        <p:spPr>
          <a:xfrm>
            <a:off x="695619" y="273050"/>
            <a:ext cx="9302162" cy="1085875"/>
          </a:xfrm>
          <a:prstGeom prst="rect">
            <a:avLst/>
          </a:prstGeom>
          <a:noFill/>
        </p:spPr>
        <p:txBody>
          <a:bodyPr wrap="none" lIns="91440" tIns="45720" rIns="91440" bIns="45720">
            <a:spAutoFit/>
          </a:bodyPr>
          <a:lstStyle/>
          <a:p>
            <a:pPr algn="ctr">
              <a:lnSpc>
                <a:spcPct val="107000"/>
              </a:lnSpc>
              <a:spcAft>
                <a:spcPts val="800"/>
              </a:spcAft>
            </a:pPr>
            <a:r>
              <a:rPr lang="en-US" sz="2800" b="1"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INDIAN RAILWAY ACCIDENT CAUSATION ANALYSIS</a:t>
            </a:r>
            <a:endParaRPr lang="en-IN" sz="2800" b="1"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spcAft>
                <a:spcPts val="800"/>
              </a:spcAft>
            </a:pPr>
            <a:r>
              <a:rPr lang="en-US" sz="2800" b="1"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(Current approaches, Challenges and potential solution) </a:t>
            </a:r>
            <a:endParaRPr lang="en-IN" sz="2800" b="1"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B8FED2F8-448E-CD90-DD71-BE8405DE1D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6902" y="1416051"/>
            <a:ext cx="6479597" cy="4319731"/>
          </a:xfrm>
          <a:prstGeom prst="rect">
            <a:avLst/>
          </a:prstGeom>
          <a:effectLst>
            <a:softEdge rad="635000"/>
          </a:effectLst>
        </p:spPr>
      </p:pic>
      <p:sp>
        <p:nvSpPr>
          <p:cNvPr id="5" name="Slide Number Placeholder 4">
            <a:extLst>
              <a:ext uri="{FF2B5EF4-FFF2-40B4-BE49-F238E27FC236}">
                <a16:creationId xmlns:a16="http://schemas.microsoft.com/office/drawing/2014/main" id="{0A2E459A-D393-B97F-A448-1461F201EA66}"/>
              </a:ext>
            </a:extLst>
          </p:cNvPr>
          <p:cNvSpPr>
            <a:spLocks noGrp="1"/>
          </p:cNvSpPr>
          <p:nvPr>
            <p:ph type="sldNum" sz="quarter" idx="12"/>
          </p:nvPr>
        </p:nvSpPr>
        <p:spPr>
          <a:xfrm>
            <a:off x="4771322" y="7117728"/>
            <a:ext cx="1150756" cy="402314"/>
          </a:xfrm>
        </p:spPr>
        <p:txBody>
          <a:bodyPr/>
          <a:lstStyle/>
          <a:p>
            <a:fld id="{B6F15528-21DE-4FAA-801E-634DDDAF4B2B}" type="slidenum">
              <a:rPr lang="en-IN" smtClean="0"/>
              <a:t>1</a:t>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94A23F3E-CC92-878C-9088-1BEB14707728}"/>
              </a:ext>
            </a:extLst>
          </p:cNvPr>
          <p:cNvSpPr/>
          <p:nvPr/>
        </p:nvSpPr>
        <p:spPr>
          <a:xfrm>
            <a:off x="165100" y="1449062"/>
            <a:ext cx="2514600" cy="646331"/>
          </a:xfrm>
          <a:prstGeom prst="homePlat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Times New Roman" panose="02020603050405020304" pitchFamily="18" charset="0"/>
                <a:cs typeface="Times New Roman" panose="02020603050405020304" pitchFamily="18" charset="0"/>
              </a:rPr>
              <a:t>1.0 General</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1C2018B6-1212-9B9F-D6DD-2D7D9A204F44}"/>
              </a:ext>
            </a:extLst>
          </p:cNvPr>
          <p:cNvSpPr/>
          <p:nvPr/>
        </p:nvSpPr>
        <p:spPr>
          <a:xfrm>
            <a:off x="3708400" y="196850"/>
            <a:ext cx="3276600" cy="6858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latin typeface="Times New Roman" panose="02020603050405020304" pitchFamily="18" charset="0"/>
                <a:cs typeface="Times New Roman" panose="02020603050405020304" pitchFamily="18" charset="0"/>
              </a:rPr>
              <a:t>CHAPTER-1</a:t>
            </a:r>
            <a:endParaRPr lang="en-IN" sz="3600" b="1" dirty="0">
              <a:solidFill>
                <a:schemeClr val="tx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E961E5B2-7099-120D-D1FD-B77ACDDFE654}"/>
              </a:ext>
            </a:extLst>
          </p:cNvPr>
          <p:cNvSpPr/>
          <p:nvPr/>
        </p:nvSpPr>
        <p:spPr>
          <a:xfrm>
            <a:off x="165100" y="2254250"/>
            <a:ext cx="9979892" cy="2585323"/>
          </a:xfrm>
          <a:prstGeom prst="rect">
            <a:avLst/>
          </a:prstGeom>
          <a:noFill/>
        </p:spPr>
        <p:txBody>
          <a:bodyPr wrap="square" lIns="91440" tIns="45720" rIns="91440" bIns="45720">
            <a:spAutoFit/>
          </a:bodyPr>
          <a:lstStyle/>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Indian Railways (IR), the largest rail passenger carrier in the world, Indian Railways (IR) is a statutory body under the ownership of the Ministry of Railways, Government of India that operates India's national railway system.</a:t>
            </a:r>
            <a:r>
              <a:rPr lang="en-US" dirty="0">
                <a:ln w="0"/>
                <a:latin typeface="Times New Roman" panose="02020603050405020304" pitchFamily="18" charset="0"/>
                <a:cs typeface="Times New Roman" panose="02020603050405020304" pitchFamily="18" charset="0"/>
              </a:rPr>
              <a:t> IR has experienced total of 281 railway accidents since 1900s to 2023 ( reports as per December, 2023). </a:t>
            </a:r>
          </a:p>
          <a:p>
            <a:pPr marL="285750" indent="-285750">
              <a:buFont typeface="Wingdings" panose="05000000000000000000" pitchFamily="2" charset="2"/>
              <a:buChar char="q"/>
            </a:pPr>
            <a:endParaRPr lang="en-US" dirty="0">
              <a:ln w="0"/>
              <a:latin typeface="Times New Roman" panose="02020603050405020304" pitchFamily="18" charset="0"/>
              <a:cs typeface="Times New Roman" panose="02020603050405020304" pitchFamily="18" charset="0"/>
            </a:endParaRPr>
          </a:p>
          <a:p>
            <a:endParaRPr lang="en-US" dirty="0">
              <a:ln w="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dirty="0">
              <a:ln w="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n w="0"/>
                <a:latin typeface="Times New Roman" panose="02020603050405020304" pitchFamily="18" charset="0"/>
                <a:cs typeface="Times New Roman" panose="02020603050405020304" pitchFamily="18" charset="0"/>
              </a:rPr>
              <a:t>In 2023 IR has experienced 17 accidents due to fire, collision and derailments </a:t>
            </a:r>
            <a:r>
              <a:rPr lang="en-US" dirty="0">
                <a:latin typeface="Times New Roman" panose="02020603050405020304" pitchFamily="18" charset="0"/>
                <a:cs typeface="Times New Roman" panose="02020603050405020304" pitchFamily="18" charset="0"/>
              </a:rPr>
              <a:t>leading to several human casualties and large-scale disruptions in traffic, recently Odisha’s triple Collison is under searchlight.</a:t>
            </a:r>
          </a:p>
        </p:txBody>
      </p:sp>
      <p:sp>
        <p:nvSpPr>
          <p:cNvPr id="7" name="Slide Number Placeholder 6">
            <a:extLst>
              <a:ext uri="{FF2B5EF4-FFF2-40B4-BE49-F238E27FC236}">
                <a16:creationId xmlns:a16="http://schemas.microsoft.com/office/drawing/2014/main" id="{4D44148C-4406-0EBC-6F10-E846571EB493}"/>
              </a:ext>
            </a:extLst>
          </p:cNvPr>
          <p:cNvSpPr>
            <a:spLocks noGrp="1"/>
          </p:cNvSpPr>
          <p:nvPr>
            <p:ph type="sldNum" sz="quarter" idx="12"/>
          </p:nvPr>
        </p:nvSpPr>
        <p:spPr/>
        <p:txBody>
          <a:bodyPr/>
          <a:lstStyle/>
          <a:p>
            <a:fld id="{B6F15528-21DE-4FAA-801E-634DDDAF4B2B}" type="slidenum">
              <a:rPr lang="en-IN" smtClean="0"/>
              <a:t>2</a:t>
            </a:fld>
            <a:endParaRPr lang="en-IN"/>
          </a:p>
        </p:txBody>
      </p:sp>
    </p:spTree>
    <p:extLst>
      <p:ext uri="{BB962C8B-B14F-4D97-AF65-F5344CB8AC3E}">
        <p14:creationId xmlns:p14="http://schemas.microsoft.com/office/powerpoint/2010/main" val="3552581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94A23F3E-CC92-878C-9088-1BEB14707728}"/>
              </a:ext>
            </a:extLst>
          </p:cNvPr>
          <p:cNvSpPr/>
          <p:nvPr/>
        </p:nvSpPr>
        <p:spPr>
          <a:xfrm>
            <a:off x="165100" y="1486840"/>
            <a:ext cx="6705600" cy="646331"/>
          </a:xfrm>
          <a:prstGeom prst="homePlat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Times New Roman" panose="02020603050405020304" pitchFamily="18" charset="0"/>
                <a:cs typeface="Times New Roman" panose="02020603050405020304" pitchFamily="18" charset="0"/>
              </a:rPr>
              <a:t>1.1 Introduction: Railway networks in India</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1C2018B6-1212-9B9F-D6DD-2D7D9A204F44}"/>
              </a:ext>
            </a:extLst>
          </p:cNvPr>
          <p:cNvSpPr/>
          <p:nvPr/>
        </p:nvSpPr>
        <p:spPr>
          <a:xfrm>
            <a:off x="3708400" y="196850"/>
            <a:ext cx="3276600" cy="6858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latin typeface="Times New Roman" panose="02020603050405020304" pitchFamily="18" charset="0"/>
                <a:cs typeface="Times New Roman" panose="02020603050405020304" pitchFamily="18" charset="0"/>
              </a:rPr>
              <a:t>CHAPTER-1</a:t>
            </a:r>
            <a:endParaRPr lang="en-IN" sz="3600" b="1" dirty="0">
              <a:solidFill>
                <a:schemeClr val="tx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E961E5B2-7099-120D-D1FD-B77ACDDFE654}"/>
              </a:ext>
            </a:extLst>
          </p:cNvPr>
          <p:cNvSpPr/>
          <p:nvPr/>
        </p:nvSpPr>
        <p:spPr>
          <a:xfrm>
            <a:off x="165100" y="2275696"/>
            <a:ext cx="9979892" cy="923330"/>
          </a:xfrm>
          <a:prstGeom prst="rect">
            <a:avLst/>
          </a:prstGeom>
          <a:noFill/>
        </p:spPr>
        <p:txBody>
          <a:bodyPr wrap="square" lIns="91440" tIns="45720" rIns="91440" bIns="45720">
            <a:spAutoFit/>
          </a:bodyPr>
          <a:lstStyle/>
          <a:p>
            <a:r>
              <a:rPr lang="en-US" dirty="0">
                <a:latin typeface="Times New Roman" panose="02020603050405020304" pitchFamily="18" charset="0"/>
                <a:cs typeface="Times New Roman" panose="02020603050405020304" pitchFamily="18" charset="0"/>
              </a:rPr>
              <a:t>Rail transport in India is an important mode of conveyance for people and goods in India. Indian Railways (IR) is the primary operator of rail operations throughout the country. IR is a state-owned organization of the Ministry of Railways, which historically had its own government budget.</a:t>
            </a:r>
          </a:p>
        </p:txBody>
      </p:sp>
      <p:graphicFrame>
        <p:nvGraphicFramePr>
          <p:cNvPr id="7" name="Table 6">
            <a:extLst>
              <a:ext uri="{FF2B5EF4-FFF2-40B4-BE49-F238E27FC236}">
                <a16:creationId xmlns:a16="http://schemas.microsoft.com/office/drawing/2014/main" id="{0C6C357E-3858-C942-FBA0-E6D50020D309}"/>
              </a:ext>
            </a:extLst>
          </p:cNvPr>
          <p:cNvGraphicFramePr>
            <a:graphicFrameLocks noGrp="1"/>
          </p:cNvGraphicFramePr>
          <p:nvPr>
            <p:extLst>
              <p:ext uri="{D42A27DB-BD31-4B8C-83A1-F6EECF244321}">
                <p14:modId xmlns:p14="http://schemas.microsoft.com/office/powerpoint/2010/main" val="1075048209"/>
              </p:ext>
            </p:extLst>
          </p:nvPr>
        </p:nvGraphicFramePr>
        <p:xfrm>
          <a:off x="1782233" y="3329786"/>
          <a:ext cx="7128934" cy="3124200"/>
        </p:xfrm>
        <a:graphic>
          <a:graphicData uri="http://schemas.openxmlformats.org/drawingml/2006/table">
            <a:tbl>
              <a:tblPr firstRow="1" bandRow="1">
                <a:tableStyleId>{3B4B98B0-60AC-42C2-AFA5-B58CD77FA1E5}</a:tableStyleId>
              </a:tblPr>
              <a:tblGrid>
                <a:gridCol w="3564467">
                  <a:extLst>
                    <a:ext uri="{9D8B030D-6E8A-4147-A177-3AD203B41FA5}">
                      <a16:colId xmlns:a16="http://schemas.microsoft.com/office/drawing/2014/main" val="80105192"/>
                    </a:ext>
                  </a:extLst>
                </a:gridCol>
                <a:gridCol w="3564467">
                  <a:extLst>
                    <a:ext uri="{9D8B030D-6E8A-4147-A177-3AD203B41FA5}">
                      <a16:colId xmlns:a16="http://schemas.microsoft.com/office/drawing/2014/main" val="360472632"/>
                    </a:ext>
                  </a:extLst>
                </a:gridCol>
              </a:tblGrid>
              <a:tr h="370840">
                <a:tc>
                  <a:txBody>
                    <a:bodyPr/>
                    <a:lstStyle/>
                    <a:p>
                      <a:r>
                        <a:rPr lang="en-US" sz="1800" b="0" dirty="0"/>
                        <a:t>1. Total track length of IR networks :</a:t>
                      </a:r>
                      <a:endParaRPr lang="en-IN" sz="1800" b="0" dirty="0"/>
                    </a:p>
                  </a:txBody>
                  <a:tcPr/>
                </a:tc>
                <a:tc>
                  <a:txBody>
                    <a:bodyPr/>
                    <a:lstStyle/>
                    <a:p>
                      <a:r>
                        <a:rPr lang="en-US" sz="1800" b="0" dirty="0"/>
                        <a:t>128305 km (79725 mi)</a:t>
                      </a:r>
                      <a:endParaRPr lang="en-IN" sz="1800" b="0" dirty="0"/>
                    </a:p>
                  </a:txBody>
                  <a:tcPr/>
                </a:tc>
                <a:extLst>
                  <a:ext uri="{0D108BD9-81ED-4DB2-BD59-A6C34878D82A}">
                    <a16:rowId xmlns:a16="http://schemas.microsoft.com/office/drawing/2014/main" val="3559675692"/>
                  </a:ext>
                </a:extLst>
              </a:tr>
              <a:tr h="370840">
                <a:tc>
                  <a:txBody>
                    <a:bodyPr/>
                    <a:lstStyle/>
                    <a:p>
                      <a:r>
                        <a:rPr lang="en-US" sz="1800" b="0" dirty="0"/>
                        <a:t>2. Route length:</a:t>
                      </a:r>
                      <a:endParaRPr lang="en-IN" sz="1800" b="0" dirty="0"/>
                    </a:p>
                  </a:txBody>
                  <a:tcPr/>
                </a:tc>
                <a:tc>
                  <a:txBody>
                    <a:bodyPr/>
                    <a:lstStyle/>
                    <a:p>
                      <a:r>
                        <a:rPr lang="en-US" sz="1800" b="0" dirty="0"/>
                        <a:t>68043 km  (42280 mi</a:t>
                      </a:r>
                      <a:r>
                        <a:rPr lang="en-IN" sz="1800" b="0" dirty="0"/>
                        <a:t>)</a:t>
                      </a:r>
                      <a:endParaRPr lang="en-US" sz="1800" b="0" dirty="0"/>
                    </a:p>
                  </a:txBody>
                  <a:tcPr/>
                </a:tc>
                <a:extLst>
                  <a:ext uri="{0D108BD9-81ED-4DB2-BD59-A6C34878D82A}">
                    <a16:rowId xmlns:a16="http://schemas.microsoft.com/office/drawing/2014/main" val="2450275496"/>
                  </a:ext>
                </a:extLst>
              </a:tr>
              <a:tr h="370840">
                <a:tc>
                  <a:txBody>
                    <a:bodyPr/>
                    <a:lstStyle/>
                    <a:p>
                      <a:r>
                        <a:rPr lang="en-US" sz="1800" b="0" dirty="0"/>
                        <a:t>3. Running track length</a:t>
                      </a:r>
                      <a:endParaRPr lang="en-IN" sz="1800" b="0" dirty="0"/>
                    </a:p>
                  </a:txBody>
                  <a:tcPr/>
                </a:tc>
                <a:tc>
                  <a:txBody>
                    <a:bodyPr/>
                    <a:lstStyle/>
                    <a:p>
                      <a:r>
                        <a:rPr lang="en-US" sz="1800" b="0" dirty="0"/>
                        <a:t>102831 km (63896 mi)</a:t>
                      </a:r>
                      <a:endParaRPr lang="en-IN" sz="1800" b="0" dirty="0"/>
                    </a:p>
                  </a:txBody>
                  <a:tcPr/>
                </a:tc>
                <a:extLst>
                  <a:ext uri="{0D108BD9-81ED-4DB2-BD59-A6C34878D82A}">
                    <a16:rowId xmlns:a16="http://schemas.microsoft.com/office/drawing/2014/main" val="1164962301"/>
                  </a:ext>
                </a:extLst>
              </a:tr>
              <a:tr h="0">
                <a:tc>
                  <a:txBody>
                    <a:bodyPr/>
                    <a:lstStyle/>
                    <a:p>
                      <a:r>
                        <a:rPr lang="en-US" sz="1800" b="0" dirty="0"/>
                        <a:t>4. Electrification:</a:t>
                      </a:r>
                      <a:endParaRPr lang="en-IN" sz="1800" b="0" dirty="0"/>
                    </a:p>
                  </a:txBody>
                  <a:tcPr/>
                </a:tc>
                <a:tc>
                  <a:txBody>
                    <a:bodyPr/>
                    <a:lstStyle/>
                    <a:p>
                      <a:r>
                        <a:rPr lang="en-US" sz="1800" b="0" dirty="0"/>
                        <a:t>58812 km (36544 mi)</a:t>
                      </a:r>
                      <a:endParaRPr lang="en-IN" sz="1800" b="0" dirty="0"/>
                    </a:p>
                  </a:txBody>
                  <a:tcPr/>
                </a:tc>
                <a:extLst>
                  <a:ext uri="{0D108BD9-81ED-4DB2-BD59-A6C34878D82A}">
                    <a16:rowId xmlns:a16="http://schemas.microsoft.com/office/drawing/2014/main" val="2044689554"/>
                  </a:ext>
                </a:extLst>
              </a:tr>
              <a:tr h="0">
                <a:tc>
                  <a:txBody>
                    <a:bodyPr/>
                    <a:lstStyle/>
                    <a:p>
                      <a:r>
                        <a:rPr lang="en-US" sz="1800" b="0" dirty="0"/>
                        <a:t>5. Total IR division: </a:t>
                      </a:r>
                      <a:endParaRPr lang="en-IN" sz="1800" b="0" dirty="0"/>
                    </a:p>
                  </a:txBody>
                  <a:tcPr/>
                </a:tc>
                <a:tc>
                  <a:txBody>
                    <a:bodyPr/>
                    <a:lstStyle/>
                    <a:p>
                      <a:r>
                        <a:rPr lang="en-US" sz="1800" b="0" dirty="0"/>
                        <a:t>18 operational </a:t>
                      </a:r>
                      <a:r>
                        <a:rPr lang="en-IN" sz="1800" b="0" dirty="0"/>
                        <a:t>+1 non operational</a:t>
                      </a:r>
                      <a:endParaRPr lang="en-US" sz="1800" b="0" dirty="0"/>
                    </a:p>
                  </a:txBody>
                  <a:tcPr/>
                </a:tc>
                <a:extLst>
                  <a:ext uri="{0D108BD9-81ED-4DB2-BD59-A6C34878D82A}">
                    <a16:rowId xmlns:a16="http://schemas.microsoft.com/office/drawing/2014/main" val="1612042314"/>
                  </a:ext>
                </a:extLst>
              </a:tr>
              <a:tr h="0">
                <a:tc>
                  <a:txBody>
                    <a:bodyPr/>
                    <a:lstStyle/>
                    <a:p>
                      <a:r>
                        <a:rPr lang="en-US" sz="1800" b="0" dirty="0"/>
                        <a:t>6. Track Gauge:</a:t>
                      </a:r>
                      <a:endParaRPr lang="en-IN" sz="1800" b="0" dirty="0"/>
                    </a:p>
                  </a:txBody>
                  <a:tcPr/>
                </a:tc>
                <a:tc>
                  <a:txBody>
                    <a:bodyPr/>
                    <a:lstStyle/>
                    <a:p>
                      <a:r>
                        <a:rPr lang="en-US" sz="1800" b="0" dirty="0"/>
                        <a:t>BG 1676 mm</a:t>
                      </a:r>
                    </a:p>
                    <a:p>
                      <a:r>
                        <a:rPr lang="en-US" sz="1800" b="0" dirty="0"/>
                        <a:t>MG 1000 mm</a:t>
                      </a:r>
                    </a:p>
                    <a:p>
                      <a:r>
                        <a:rPr lang="en-US" sz="1800" b="0" dirty="0"/>
                        <a:t>NG 762 mm &amp; 600 mm</a:t>
                      </a:r>
                    </a:p>
                  </a:txBody>
                  <a:tcPr/>
                </a:tc>
                <a:extLst>
                  <a:ext uri="{0D108BD9-81ED-4DB2-BD59-A6C34878D82A}">
                    <a16:rowId xmlns:a16="http://schemas.microsoft.com/office/drawing/2014/main" val="842682971"/>
                  </a:ext>
                </a:extLst>
              </a:tr>
              <a:tr h="0">
                <a:tc>
                  <a:txBody>
                    <a:bodyPr/>
                    <a:lstStyle/>
                    <a:p>
                      <a:r>
                        <a:rPr lang="en-US" sz="1800" b="0" dirty="0"/>
                        <a:t>7. Total stations:</a:t>
                      </a:r>
                      <a:endParaRPr lang="en-IN" sz="1800" b="0" dirty="0"/>
                    </a:p>
                  </a:txBody>
                  <a:tcPr/>
                </a:tc>
                <a:tc>
                  <a:txBody>
                    <a:bodyPr/>
                    <a:lstStyle/>
                    <a:p>
                      <a:r>
                        <a:rPr lang="en-US" sz="1800" b="0" dirty="0"/>
                        <a:t>7325</a:t>
                      </a:r>
                    </a:p>
                  </a:txBody>
                  <a:tcPr/>
                </a:tc>
                <a:extLst>
                  <a:ext uri="{0D108BD9-81ED-4DB2-BD59-A6C34878D82A}">
                    <a16:rowId xmlns:a16="http://schemas.microsoft.com/office/drawing/2014/main" val="2850482174"/>
                  </a:ext>
                </a:extLst>
              </a:tr>
            </a:tbl>
          </a:graphicData>
        </a:graphic>
      </p:graphicFrame>
      <p:sp>
        <p:nvSpPr>
          <p:cNvPr id="8" name="Rectangle 7">
            <a:extLst>
              <a:ext uri="{FF2B5EF4-FFF2-40B4-BE49-F238E27FC236}">
                <a16:creationId xmlns:a16="http://schemas.microsoft.com/office/drawing/2014/main" id="{6796B862-ACD0-C4FA-694C-1EBB1A94DD32}"/>
              </a:ext>
            </a:extLst>
          </p:cNvPr>
          <p:cNvSpPr/>
          <p:nvPr/>
        </p:nvSpPr>
        <p:spPr>
          <a:xfrm>
            <a:off x="2794000" y="6580705"/>
            <a:ext cx="5105400" cy="307777"/>
          </a:xfrm>
          <a:prstGeom prst="rect">
            <a:avLst/>
          </a:prstGeom>
          <a:noFill/>
        </p:spPr>
        <p:txBody>
          <a:bodyPr wrap="square" lIns="91440" tIns="45720" rIns="91440" bIns="45720">
            <a:spAutoFit/>
          </a:bodyPr>
          <a:lstStyle/>
          <a:p>
            <a:r>
              <a:rPr lang="en-US" sz="1400" dirty="0">
                <a:latin typeface="Times New Roman" panose="02020603050405020304" pitchFamily="18" charset="0"/>
                <a:cs typeface="Times New Roman" panose="02020603050405020304" pitchFamily="18" charset="0"/>
                <a:hlinkClick r:id="rId2"/>
              </a:rPr>
              <a:t>Data source:  collected from Indian railway year book 2021-2022</a:t>
            </a:r>
            <a:endParaRPr lang="en-US" sz="1400"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72E662E8-123B-5A81-870D-D7BDED3088B3}"/>
              </a:ext>
            </a:extLst>
          </p:cNvPr>
          <p:cNvSpPr>
            <a:spLocks noGrp="1"/>
          </p:cNvSpPr>
          <p:nvPr>
            <p:ph type="sldNum" sz="quarter" idx="12"/>
          </p:nvPr>
        </p:nvSpPr>
        <p:spPr/>
        <p:txBody>
          <a:bodyPr/>
          <a:lstStyle/>
          <a:p>
            <a:fld id="{B6F15528-21DE-4FAA-801E-634DDDAF4B2B}" type="slidenum">
              <a:rPr lang="en-IN" smtClean="0"/>
              <a:t>3</a:t>
            </a:fld>
            <a:endParaRPr lang="en-IN"/>
          </a:p>
        </p:txBody>
      </p:sp>
    </p:spTree>
    <p:extLst>
      <p:ext uri="{BB962C8B-B14F-4D97-AF65-F5344CB8AC3E}">
        <p14:creationId xmlns:p14="http://schemas.microsoft.com/office/powerpoint/2010/main" val="3421225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6B3AD4-3427-19D0-000E-BCCF3FCA7FA6}"/>
              </a:ext>
            </a:extLst>
          </p:cNvPr>
          <p:cNvSpPr>
            <a:spLocks noGrp="1"/>
          </p:cNvSpPr>
          <p:nvPr>
            <p:ph type="sldNum" sz="quarter" idx="12"/>
          </p:nvPr>
        </p:nvSpPr>
        <p:spPr/>
        <p:txBody>
          <a:bodyPr/>
          <a:lstStyle/>
          <a:p>
            <a:fld id="{B6F15528-21DE-4FAA-801E-634DDDAF4B2B}" type="slidenum">
              <a:rPr lang="en-IN" smtClean="0"/>
              <a:t>4</a:t>
            </a:fld>
            <a:endParaRPr lang="en-IN"/>
          </a:p>
        </p:txBody>
      </p:sp>
      <p:sp>
        <p:nvSpPr>
          <p:cNvPr id="3" name="Rectangle 2">
            <a:extLst>
              <a:ext uri="{FF2B5EF4-FFF2-40B4-BE49-F238E27FC236}">
                <a16:creationId xmlns:a16="http://schemas.microsoft.com/office/drawing/2014/main" id="{C804CA9C-3963-702D-5F89-1DDC03632638}"/>
              </a:ext>
            </a:extLst>
          </p:cNvPr>
          <p:cNvSpPr/>
          <p:nvPr/>
        </p:nvSpPr>
        <p:spPr>
          <a:xfrm>
            <a:off x="469900" y="425450"/>
            <a:ext cx="9979892" cy="461665"/>
          </a:xfrm>
          <a:prstGeom prst="rect">
            <a:avLst/>
          </a:prstGeom>
          <a:noFill/>
        </p:spPr>
        <p:txBody>
          <a:bodyPr wrap="square" lIns="91440" tIns="45720" rIns="91440" bIns="45720">
            <a:spAutoFit/>
          </a:bodyPr>
          <a:lstStyle/>
          <a:p>
            <a:pPr marL="342900" indent="-342900">
              <a:buFont typeface="Wingdings" panose="05000000000000000000" pitchFamily="2" charset="2"/>
              <a:buChar char="q"/>
            </a:pPr>
            <a:r>
              <a:rPr lang="en-US" sz="2400" b="1" u="sng" dirty="0">
                <a:solidFill>
                  <a:srgbClr val="0070C0"/>
                </a:solidFill>
                <a:latin typeface="Times New Roman" panose="02020603050405020304" pitchFamily="18" charset="0"/>
                <a:cs typeface="Times New Roman" panose="02020603050405020304" pitchFamily="18" charset="0"/>
              </a:rPr>
              <a:t>Zones &amp; Division of Indian Railways :</a:t>
            </a:r>
          </a:p>
        </p:txBody>
      </p:sp>
      <p:pic>
        <p:nvPicPr>
          <p:cNvPr id="1026" name="Picture 2" descr="Indian Railways Zones &amp; Divisions">
            <a:extLst>
              <a:ext uri="{FF2B5EF4-FFF2-40B4-BE49-F238E27FC236}">
                <a16:creationId xmlns:a16="http://schemas.microsoft.com/office/drawing/2014/main" id="{66CD7C2E-E20D-D74C-952F-0A16913B00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700" y="996949"/>
            <a:ext cx="7677832" cy="5604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218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6B3AD4-3427-19D0-000E-BCCF3FCA7FA6}"/>
              </a:ext>
            </a:extLst>
          </p:cNvPr>
          <p:cNvSpPr>
            <a:spLocks noGrp="1"/>
          </p:cNvSpPr>
          <p:nvPr>
            <p:ph type="sldNum" sz="quarter" idx="12"/>
          </p:nvPr>
        </p:nvSpPr>
        <p:spPr/>
        <p:txBody>
          <a:bodyPr/>
          <a:lstStyle/>
          <a:p>
            <a:fld id="{B6F15528-21DE-4FAA-801E-634DDDAF4B2B}" type="slidenum">
              <a:rPr lang="en-IN" smtClean="0"/>
              <a:t>5</a:t>
            </a:fld>
            <a:endParaRPr lang="en-IN"/>
          </a:p>
        </p:txBody>
      </p:sp>
      <p:sp>
        <p:nvSpPr>
          <p:cNvPr id="3" name="Rectangle 2">
            <a:extLst>
              <a:ext uri="{FF2B5EF4-FFF2-40B4-BE49-F238E27FC236}">
                <a16:creationId xmlns:a16="http://schemas.microsoft.com/office/drawing/2014/main" id="{C804CA9C-3963-702D-5F89-1DDC03632638}"/>
              </a:ext>
            </a:extLst>
          </p:cNvPr>
          <p:cNvSpPr/>
          <p:nvPr/>
        </p:nvSpPr>
        <p:spPr>
          <a:xfrm>
            <a:off x="469900" y="425450"/>
            <a:ext cx="9979892" cy="461665"/>
          </a:xfrm>
          <a:prstGeom prst="rect">
            <a:avLst/>
          </a:prstGeom>
          <a:noFill/>
        </p:spPr>
        <p:txBody>
          <a:bodyPr wrap="square" lIns="91440" tIns="45720" rIns="91440" bIns="45720">
            <a:spAutoFit/>
          </a:bodyPr>
          <a:lstStyle/>
          <a:p>
            <a:pPr marL="342900" indent="-342900">
              <a:buFont typeface="Wingdings" panose="05000000000000000000" pitchFamily="2" charset="2"/>
              <a:buChar char="q"/>
            </a:pPr>
            <a:r>
              <a:rPr lang="en-US" sz="2400" b="1" u="sng" dirty="0">
                <a:solidFill>
                  <a:srgbClr val="0070C0"/>
                </a:solidFill>
                <a:latin typeface="Times New Roman" panose="02020603050405020304" pitchFamily="18" charset="0"/>
                <a:cs typeface="Times New Roman" panose="02020603050405020304" pitchFamily="18" charset="0"/>
              </a:rPr>
              <a:t>Zones &amp; Division of Indian Railways :</a:t>
            </a:r>
          </a:p>
        </p:txBody>
      </p:sp>
      <p:graphicFrame>
        <p:nvGraphicFramePr>
          <p:cNvPr id="5" name="Table 4">
            <a:extLst>
              <a:ext uri="{FF2B5EF4-FFF2-40B4-BE49-F238E27FC236}">
                <a16:creationId xmlns:a16="http://schemas.microsoft.com/office/drawing/2014/main" id="{2B13AAFB-B190-DF07-E0B6-9D7FC9FD414E}"/>
              </a:ext>
            </a:extLst>
          </p:cNvPr>
          <p:cNvGraphicFramePr>
            <a:graphicFrameLocks noGrp="1"/>
          </p:cNvGraphicFramePr>
          <p:nvPr>
            <p:extLst>
              <p:ext uri="{D42A27DB-BD31-4B8C-83A1-F6EECF244321}">
                <p14:modId xmlns:p14="http://schemas.microsoft.com/office/powerpoint/2010/main" val="38629058"/>
              </p:ext>
            </p:extLst>
          </p:nvPr>
        </p:nvGraphicFramePr>
        <p:xfrm>
          <a:off x="635048" y="929113"/>
          <a:ext cx="8610600" cy="5856207"/>
        </p:xfrm>
        <a:graphic>
          <a:graphicData uri="http://schemas.openxmlformats.org/drawingml/2006/table">
            <a:tbl>
              <a:tblPr firstRow="1" bandRow="1">
                <a:tableStyleId>{5C22544A-7EE6-4342-B048-85BDC9FD1C3A}</a:tableStyleId>
              </a:tblPr>
              <a:tblGrid>
                <a:gridCol w="1133599">
                  <a:extLst>
                    <a:ext uri="{9D8B030D-6E8A-4147-A177-3AD203B41FA5}">
                      <a16:colId xmlns:a16="http://schemas.microsoft.com/office/drawing/2014/main" val="2291851813"/>
                    </a:ext>
                  </a:extLst>
                </a:gridCol>
                <a:gridCol w="3120853">
                  <a:extLst>
                    <a:ext uri="{9D8B030D-6E8A-4147-A177-3AD203B41FA5}">
                      <a16:colId xmlns:a16="http://schemas.microsoft.com/office/drawing/2014/main" val="4189326634"/>
                    </a:ext>
                  </a:extLst>
                </a:gridCol>
                <a:gridCol w="1600200">
                  <a:extLst>
                    <a:ext uri="{9D8B030D-6E8A-4147-A177-3AD203B41FA5}">
                      <a16:colId xmlns:a16="http://schemas.microsoft.com/office/drawing/2014/main" val="1674761364"/>
                    </a:ext>
                  </a:extLst>
                </a:gridCol>
                <a:gridCol w="2755948">
                  <a:extLst>
                    <a:ext uri="{9D8B030D-6E8A-4147-A177-3AD203B41FA5}">
                      <a16:colId xmlns:a16="http://schemas.microsoft.com/office/drawing/2014/main" val="3746132450"/>
                    </a:ext>
                  </a:extLst>
                </a:gridCol>
              </a:tblGrid>
              <a:tr h="660961">
                <a:tc>
                  <a:txBody>
                    <a:bodyPr/>
                    <a:lstStyle/>
                    <a:p>
                      <a:pPr algn="ctr"/>
                      <a:r>
                        <a:rPr lang="en-US" sz="1800" dirty="0">
                          <a:latin typeface="Times New Roman" panose="02020603050405020304" pitchFamily="18" charset="0"/>
                          <a:cs typeface="Times New Roman" panose="02020603050405020304" pitchFamily="18" charset="0"/>
                        </a:rPr>
                        <a:t>Zone Number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Railway Zone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Code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Zone Headquarters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6531588"/>
                  </a:ext>
                </a:extLst>
              </a:tr>
              <a:tr h="546138">
                <a:tc>
                  <a:txBody>
                    <a:bodyPr/>
                    <a:lstStyle/>
                    <a:p>
                      <a:r>
                        <a:rPr lang="en-IN" sz="1600" b="0" dirty="0">
                          <a:solidFill>
                            <a:schemeClr val="tx1"/>
                          </a:solidFill>
                          <a:effectLst/>
                          <a:latin typeface="Times New Roman" panose="02020603050405020304" pitchFamily="18" charset="0"/>
                          <a:cs typeface="Times New Roman" panose="02020603050405020304" pitchFamily="18" charset="0"/>
                        </a:rPr>
                        <a:t>1</a:t>
                      </a:r>
                    </a:p>
                  </a:txBody>
                  <a:tcPr anchor="ctr"/>
                </a:tc>
                <a:tc>
                  <a:txBody>
                    <a:bodyPr/>
                    <a:lstStyle/>
                    <a:p>
                      <a:r>
                        <a:rPr lang="en-IN" sz="1600" b="0" u="none" strike="noStrike" dirty="0">
                          <a:solidFill>
                            <a:schemeClr val="tx1"/>
                          </a:solidFill>
                          <a:effectLst/>
                          <a:latin typeface="Times New Roman" panose="02020603050405020304" pitchFamily="18" charset="0"/>
                          <a:cs typeface="Times New Roman" panose="02020603050405020304" pitchFamily="18" charset="0"/>
                        </a:rPr>
                        <a:t>Northern Railway</a:t>
                      </a:r>
                      <a:endParaRPr lang="en-IN" sz="1600" b="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b="0" dirty="0">
                          <a:solidFill>
                            <a:schemeClr val="tx1"/>
                          </a:solidFill>
                          <a:effectLst/>
                          <a:latin typeface="Times New Roman" panose="02020603050405020304" pitchFamily="18" charset="0"/>
                          <a:cs typeface="Times New Roman" panose="02020603050405020304" pitchFamily="18" charset="0"/>
                        </a:rPr>
                        <a:t>NR</a:t>
                      </a:r>
                    </a:p>
                  </a:txBody>
                  <a:tcPr anchor="ctr"/>
                </a:tc>
                <a:tc>
                  <a:txBody>
                    <a:bodyPr/>
                    <a:lstStyle/>
                    <a:p>
                      <a:r>
                        <a:rPr lang="en-IN" sz="1600" b="0" u="none" strike="noStrike" dirty="0">
                          <a:solidFill>
                            <a:schemeClr val="tx1"/>
                          </a:solidFill>
                          <a:effectLst/>
                          <a:latin typeface="Times New Roman" panose="02020603050405020304" pitchFamily="18" charset="0"/>
                          <a:cs typeface="Times New Roman" panose="02020603050405020304" pitchFamily="18" charset="0"/>
                        </a:rPr>
                        <a:t>Delhi</a:t>
                      </a:r>
                      <a:endParaRPr lang="en-IN" sz="1600" b="0"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64122272"/>
                  </a:ext>
                </a:extLst>
              </a:tr>
              <a:tr h="643171">
                <a:tc>
                  <a:txBody>
                    <a:bodyPr/>
                    <a:lstStyle/>
                    <a:p>
                      <a:r>
                        <a:rPr lang="en-IN" sz="1600" b="0">
                          <a:solidFill>
                            <a:schemeClr val="tx1"/>
                          </a:solidFill>
                          <a:effectLst/>
                          <a:latin typeface="Times New Roman" panose="02020603050405020304" pitchFamily="18" charset="0"/>
                          <a:cs typeface="Times New Roman" panose="02020603050405020304" pitchFamily="18" charset="0"/>
                        </a:rPr>
                        <a:t>2</a:t>
                      </a:r>
                    </a:p>
                  </a:txBody>
                  <a:tcPr anchor="ctr"/>
                </a:tc>
                <a:tc>
                  <a:txBody>
                    <a:bodyPr/>
                    <a:lstStyle/>
                    <a:p>
                      <a:r>
                        <a:rPr lang="en-IN" sz="1600" b="0" u="none" strike="noStrike" dirty="0">
                          <a:solidFill>
                            <a:schemeClr val="tx1"/>
                          </a:solidFill>
                          <a:effectLst/>
                          <a:latin typeface="Times New Roman" panose="02020603050405020304" pitchFamily="18" charset="0"/>
                          <a:cs typeface="Times New Roman" panose="02020603050405020304" pitchFamily="18" charset="0"/>
                        </a:rPr>
                        <a:t>North Eastern Railway</a:t>
                      </a:r>
                      <a:endParaRPr lang="en-IN" sz="1600" b="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b="0" dirty="0">
                          <a:solidFill>
                            <a:schemeClr val="tx1"/>
                          </a:solidFill>
                          <a:effectLst/>
                          <a:latin typeface="Times New Roman" panose="02020603050405020304" pitchFamily="18" charset="0"/>
                          <a:cs typeface="Times New Roman" panose="02020603050405020304" pitchFamily="18" charset="0"/>
                        </a:rPr>
                        <a:t>NER</a:t>
                      </a:r>
                    </a:p>
                  </a:txBody>
                  <a:tcPr anchor="ctr"/>
                </a:tc>
                <a:tc>
                  <a:txBody>
                    <a:bodyPr/>
                    <a:lstStyle/>
                    <a:p>
                      <a:r>
                        <a:rPr lang="en-IN" sz="1600" b="0" u="none" strike="noStrike" dirty="0">
                          <a:solidFill>
                            <a:schemeClr val="tx1"/>
                          </a:solidFill>
                          <a:effectLst/>
                          <a:latin typeface="Times New Roman" panose="02020603050405020304" pitchFamily="18" charset="0"/>
                          <a:cs typeface="Times New Roman" panose="02020603050405020304" pitchFamily="18" charset="0"/>
                        </a:rPr>
                        <a:t>Gorakhpur</a:t>
                      </a:r>
                      <a:endParaRPr lang="en-IN" sz="1600" b="0"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62512998"/>
                  </a:ext>
                </a:extLst>
              </a:tr>
              <a:tr h="745210">
                <a:tc>
                  <a:txBody>
                    <a:bodyPr/>
                    <a:lstStyle/>
                    <a:p>
                      <a:r>
                        <a:rPr lang="en-IN" sz="1600" b="0">
                          <a:solidFill>
                            <a:schemeClr val="tx1"/>
                          </a:solidFill>
                          <a:effectLst/>
                          <a:latin typeface="Times New Roman" panose="02020603050405020304" pitchFamily="18" charset="0"/>
                          <a:cs typeface="Times New Roman" panose="02020603050405020304" pitchFamily="18" charset="0"/>
                        </a:rPr>
                        <a:t>3</a:t>
                      </a:r>
                    </a:p>
                  </a:txBody>
                  <a:tcPr anchor="ctr"/>
                </a:tc>
                <a:tc>
                  <a:txBody>
                    <a:bodyPr/>
                    <a:lstStyle/>
                    <a:p>
                      <a:r>
                        <a:rPr lang="en-IN" sz="1600" b="0" u="none" strike="noStrike" dirty="0">
                          <a:solidFill>
                            <a:schemeClr val="tx1"/>
                          </a:solidFill>
                          <a:effectLst/>
                          <a:latin typeface="Times New Roman" panose="02020603050405020304" pitchFamily="18" charset="0"/>
                          <a:cs typeface="Times New Roman" panose="02020603050405020304" pitchFamily="18" charset="0"/>
                        </a:rPr>
                        <a:t>Northeast Frontier Railway</a:t>
                      </a:r>
                      <a:endParaRPr lang="en-IN" sz="1600" b="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b="0" dirty="0">
                          <a:solidFill>
                            <a:schemeClr val="tx1"/>
                          </a:solidFill>
                          <a:effectLst/>
                          <a:latin typeface="Times New Roman" panose="02020603050405020304" pitchFamily="18" charset="0"/>
                          <a:cs typeface="Times New Roman" panose="02020603050405020304" pitchFamily="18" charset="0"/>
                        </a:rPr>
                        <a:t>NFR</a:t>
                      </a:r>
                    </a:p>
                  </a:txBody>
                  <a:tcPr anchor="ctr"/>
                </a:tc>
                <a:tc>
                  <a:txBody>
                    <a:bodyPr/>
                    <a:lstStyle/>
                    <a:p>
                      <a:r>
                        <a:rPr lang="en-IN" sz="1600" b="0" u="none" strike="noStrike" dirty="0" err="1">
                          <a:solidFill>
                            <a:schemeClr val="tx1"/>
                          </a:solidFill>
                          <a:effectLst/>
                          <a:latin typeface="Times New Roman" panose="02020603050405020304" pitchFamily="18" charset="0"/>
                          <a:cs typeface="Times New Roman" panose="02020603050405020304" pitchFamily="18" charset="0"/>
                        </a:rPr>
                        <a:t>Maligaon</a:t>
                      </a:r>
                      <a:r>
                        <a:rPr lang="en-IN" sz="1600" b="0" u="none" dirty="0">
                          <a:solidFill>
                            <a:schemeClr val="tx1"/>
                          </a:solidFill>
                          <a:effectLst/>
                          <a:latin typeface="Times New Roman" panose="02020603050405020304" pitchFamily="18" charset="0"/>
                          <a:cs typeface="Times New Roman" panose="02020603050405020304" pitchFamily="18" charset="0"/>
                        </a:rPr>
                        <a:t>, </a:t>
                      </a:r>
                      <a:r>
                        <a:rPr lang="en-IN" sz="1600" b="0" u="none" strike="noStrike" dirty="0">
                          <a:solidFill>
                            <a:schemeClr val="tx1"/>
                          </a:solidFill>
                          <a:effectLst/>
                          <a:latin typeface="Times New Roman" panose="02020603050405020304" pitchFamily="18" charset="0"/>
                          <a:cs typeface="Times New Roman" panose="02020603050405020304" pitchFamily="18" charset="0"/>
                        </a:rPr>
                        <a:t>Guwahati</a:t>
                      </a:r>
                      <a:endParaRPr lang="en-IN" sz="1600" b="0" u="none"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71271596"/>
                  </a:ext>
                </a:extLst>
              </a:tr>
              <a:tr h="439075">
                <a:tc>
                  <a:txBody>
                    <a:bodyPr/>
                    <a:lstStyle/>
                    <a:p>
                      <a:r>
                        <a:rPr lang="en-IN" sz="1600" b="0">
                          <a:solidFill>
                            <a:schemeClr val="tx1"/>
                          </a:solidFill>
                          <a:effectLst/>
                          <a:latin typeface="Times New Roman" panose="02020603050405020304" pitchFamily="18" charset="0"/>
                          <a:cs typeface="Times New Roman" panose="02020603050405020304" pitchFamily="18" charset="0"/>
                        </a:rPr>
                        <a:t>4</a:t>
                      </a:r>
                    </a:p>
                  </a:txBody>
                  <a:tcPr anchor="ctr"/>
                </a:tc>
                <a:tc>
                  <a:txBody>
                    <a:bodyPr/>
                    <a:lstStyle/>
                    <a:p>
                      <a:r>
                        <a:rPr lang="en-IN" sz="1600" b="0" u="none" strike="noStrike" dirty="0">
                          <a:solidFill>
                            <a:schemeClr val="tx1"/>
                          </a:solidFill>
                          <a:effectLst/>
                          <a:latin typeface="Times New Roman" panose="02020603050405020304" pitchFamily="18" charset="0"/>
                          <a:cs typeface="Times New Roman" panose="02020603050405020304" pitchFamily="18" charset="0"/>
                        </a:rPr>
                        <a:t>Eastern Railway</a:t>
                      </a:r>
                      <a:endParaRPr lang="en-IN" sz="1600" b="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b="0">
                          <a:solidFill>
                            <a:schemeClr val="tx1"/>
                          </a:solidFill>
                          <a:effectLst/>
                          <a:latin typeface="Times New Roman" panose="02020603050405020304" pitchFamily="18" charset="0"/>
                          <a:cs typeface="Times New Roman" panose="02020603050405020304" pitchFamily="18" charset="0"/>
                        </a:rPr>
                        <a:t>ER</a:t>
                      </a:r>
                    </a:p>
                  </a:txBody>
                  <a:tcPr anchor="ctr"/>
                </a:tc>
                <a:tc>
                  <a:txBody>
                    <a:bodyPr/>
                    <a:lstStyle/>
                    <a:p>
                      <a:r>
                        <a:rPr lang="en-IN" sz="1600" b="0" u="none" strike="noStrike" dirty="0" err="1">
                          <a:solidFill>
                            <a:schemeClr val="tx1"/>
                          </a:solidFill>
                          <a:effectLst/>
                          <a:latin typeface="Times New Roman" panose="02020603050405020304" pitchFamily="18" charset="0"/>
                          <a:cs typeface="Times New Roman" panose="02020603050405020304" pitchFamily="18" charset="0"/>
                        </a:rPr>
                        <a:t>Fairlie</a:t>
                      </a:r>
                      <a:r>
                        <a:rPr lang="en-IN" sz="1600" b="0" u="none" strike="noStrike" dirty="0">
                          <a:solidFill>
                            <a:schemeClr val="tx1"/>
                          </a:solidFill>
                          <a:effectLst/>
                          <a:latin typeface="Times New Roman" panose="02020603050405020304" pitchFamily="18" charset="0"/>
                          <a:cs typeface="Times New Roman" panose="02020603050405020304" pitchFamily="18" charset="0"/>
                        </a:rPr>
                        <a:t> Place</a:t>
                      </a:r>
                      <a:r>
                        <a:rPr lang="en-IN" sz="1600" b="0" u="none" dirty="0">
                          <a:solidFill>
                            <a:schemeClr val="tx1"/>
                          </a:solidFill>
                          <a:effectLst/>
                          <a:latin typeface="Times New Roman" panose="02020603050405020304" pitchFamily="18" charset="0"/>
                          <a:cs typeface="Times New Roman" panose="02020603050405020304" pitchFamily="18" charset="0"/>
                        </a:rPr>
                        <a:t>, </a:t>
                      </a:r>
                      <a:r>
                        <a:rPr lang="en-IN" sz="1600" b="0" u="none" strike="noStrike" dirty="0">
                          <a:solidFill>
                            <a:schemeClr val="tx1"/>
                          </a:solidFill>
                          <a:effectLst/>
                          <a:latin typeface="Times New Roman" panose="02020603050405020304" pitchFamily="18" charset="0"/>
                          <a:cs typeface="Times New Roman" panose="02020603050405020304" pitchFamily="18" charset="0"/>
                        </a:rPr>
                        <a:t>Kolkata</a:t>
                      </a:r>
                      <a:endParaRPr lang="en-IN" sz="1600" b="0" u="none"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95697909"/>
                  </a:ext>
                </a:extLst>
              </a:tr>
              <a:tr h="643171">
                <a:tc>
                  <a:txBody>
                    <a:bodyPr/>
                    <a:lstStyle/>
                    <a:p>
                      <a:r>
                        <a:rPr lang="en-IN" sz="1600" b="0">
                          <a:solidFill>
                            <a:schemeClr val="tx1"/>
                          </a:solidFill>
                          <a:effectLst/>
                          <a:latin typeface="Times New Roman" panose="02020603050405020304" pitchFamily="18" charset="0"/>
                          <a:cs typeface="Times New Roman" panose="02020603050405020304" pitchFamily="18" charset="0"/>
                        </a:rPr>
                        <a:t>5</a:t>
                      </a:r>
                    </a:p>
                  </a:txBody>
                  <a:tcPr anchor="ctr"/>
                </a:tc>
                <a:tc>
                  <a:txBody>
                    <a:bodyPr/>
                    <a:lstStyle/>
                    <a:p>
                      <a:r>
                        <a:rPr lang="en-IN" sz="1600" b="0" u="none" strike="noStrike" dirty="0">
                          <a:solidFill>
                            <a:schemeClr val="tx1"/>
                          </a:solidFill>
                          <a:effectLst/>
                          <a:latin typeface="Times New Roman" panose="02020603050405020304" pitchFamily="18" charset="0"/>
                          <a:cs typeface="Times New Roman" panose="02020603050405020304" pitchFamily="18" charset="0"/>
                        </a:rPr>
                        <a:t>South Eastern Railway</a:t>
                      </a:r>
                      <a:endParaRPr lang="en-IN" sz="1600" b="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b="0">
                          <a:solidFill>
                            <a:schemeClr val="tx1"/>
                          </a:solidFill>
                          <a:effectLst/>
                          <a:latin typeface="Times New Roman" panose="02020603050405020304" pitchFamily="18" charset="0"/>
                          <a:cs typeface="Times New Roman" panose="02020603050405020304" pitchFamily="18" charset="0"/>
                        </a:rPr>
                        <a:t>SER</a:t>
                      </a:r>
                    </a:p>
                  </a:txBody>
                  <a:tcPr anchor="ctr"/>
                </a:tc>
                <a:tc>
                  <a:txBody>
                    <a:bodyPr/>
                    <a:lstStyle/>
                    <a:p>
                      <a:r>
                        <a:rPr lang="en-IN" sz="1600" b="0" u="none" strike="noStrike" dirty="0">
                          <a:solidFill>
                            <a:schemeClr val="tx1"/>
                          </a:solidFill>
                          <a:effectLst/>
                          <a:latin typeface="Times New Roman" panose="02020603050405020304" pitchFamily="18" charset="0"/>
                          <a:cs typeface="Times New Roman" panose="02020603050405020304" pitchFamily="18" charset="0"/>
                        </a:rPr>
                        <a:t>Garden Reach</a:t>
                      </a:r>
                      <a:r>
                        <a:rPr lang="en-IN" sz="1600" b="0" u="none" dirty="0">
                          <a:solidFill>
                            <a:schemeClr val="tx1"/>
                          </a:solidFill>
                          <a:effectLst/>
                          <a:latin typeface="Times New Roman" panose="02020603050405020304" pitchFamily="18" charset="0"/>
                          <a:cs typeface="Times New Roman" panose="02020603050405020304" pitchFamily="18" charset="0"/>
                        </a:rPr>
                        <a:t>, </a:t>
                      </a:r>
                      <a:r>
                        <a:rPr lang="en-IN" sz="1600" b="0" u="none" strike="noStrike" dirty="0">
                          <a:solidFill>
                            <a:schemeClr val="tx1"/>
                          </a:solidFill>
                          <a:effectLst/>
                          <a:latin typeface="Times New Roman" panose="02020603050405020304" pitchFamily="18" charset="0"/>
                          <a:cs typeface="Times New Roman" panose="02020603050405020304" pitchFamily="18" charset="0"/>
                        </a:rPr>
                        <a:t>Kolkata</a:t>
                      </a:r>
                      <a:endParaRPr lang="en-IN" sz="1600" b="0" u="none"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92656507"/>
                  </a:ext>
                </a:extLst>
              </a:tr>
              <a:tr h="643171">
                <a:tc>
                  <a:txBody>
                    <a:bodyPr/>
                    <a:lstStyle/>
                    <a:p>
                      <a:r>
                        <a:rPr lang="en-IN" sz="1600" b="0" dirty="0">
                          <a:solidFill>
                            <a:schemeClr val="tx1"/>
                          </a:solidFill>
                          <a:effectLst/>
                          <a:latin typeface="Times New Roman" panose="02020603050405020304" pitchFamily="18" charset="0"/>
                          <a:cs typeface="Times New Roman" panose="02020603050405020304" pitchFamily="18" charset="0"/>
                        </a:rPr>
                        <a:t>6</a:t>
                      </a:r>
                    </a:p>
                  </a:txBody>
                  <a:tcPr anchor="ctr"/>
                </a:tc>
                <a:tc>
                  <a:txBody>
                    <a:bodyPr/>
                    <a:lstStyle/>
                    <a:p>
                      <a:r>
                        <a:rPr lang="en-IN" sz="1600" b="0" u="none" strike="noStrike" dirty="0">
                          <a:solidFill>
                            <a:schemeClr val="tx1"/>
                          </a:solidFill>
                          <a:effectLst/>
                          <a:latin typeface="Times New Roman" panose="02020603050405020304" pitchFamily="18" charset="0"/>
                          <a:cs typeface="Times New Roman" panose="02020603050405020304" pitchFamily="18" charset="0"/>
                        </a:rPr>
                        <a:t>South Central Railway</a:t>
                      </a:r>
                      <a:r>
                        <a:rPr lang="en-IN" sz="1600" b="0" i="0" u="none" strike="noStrike" baseline="30000" dirty="0">
                          <a:solidFill>
                            <a:schemeClr val="tx1"/>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[45]</a:t>
                      </a:r>
                      <a:endParaRPr lang="en-IN" sz="1600" b="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b="0">
                          <a:solidFill>
                            <a:schemeClr val="tx1"/>
                          </a:solidFill>
                          <a:effectLst/>
                          <a:latin typeface="Times New Roman" panose="02020603050405020304" pitchFamily="18" charset="0"/>
                          <a:cs typeface="Times New Roman" panose="02020603050405020304" pitchFamily="18" charset="0"/>
                        </a:rPr>
                        <a:t>SCR</a:t>
                      </a:r>
                    </a:p>
                  </a:txBody>
                  <a:tcPr anchor="ctr"/>
                </a:tc>
                <a:tc>
                  <a:txBody>
                    <a:bodyPr/>
                    <a:lstStyle/>
                    <a:p>
                      <a:r>
                        <a:rPr lang="en-IN" sz="1600" b="0" u="none" strike="noStrike" dirty="0" err="1">
                          <a:solidFill>
                            <a:schemeClr val="tx1"/>
                          </a:solidFill>
                          <a:effectLst/>
                          <a:latin typeface="Times New Roman" panose="02020603050405020304" pitchFamily="18" charset="0"/>
                          <a:cs typeface="Times New Roman" panose="02020603050405020304" pitchFamily="18" charset="0"/>
                        </a:rPr>
                        <a:t>Secunderabad</a:t>
                      </a:r>
                      <a:r>
                        <a:rPr lang="en-IN" sz="1600" b="0" u="none" strike="noStrike" dirty="0">
                          <a:solidFill>
                            <a:schemeClr val="tx1"/>
                          </a:solidFill>
                          <a:effectLst/>
                          <a:latin typeface="Times New Roman" panose="02020603050405020304" pitchFamily="18" charset="0"/>
                          <a:cs typeface="Times New Roman" panose="02020603050405020304" pitchFamily="18" charset="0"/>
                        </a:rPr>
                        <a:t> Junction</a:t>
                      </a:r>
                      <a:endParaRPr lang="en-IN" sz="1600" b="0" u="none"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20336010"/>
                  </a:ext>
                </a:extLst>
              </a:tr>
              <a:tr h="546138">
                <a:tc>
                  <a:txBody>
                    <a:bodyPr/>
                    <a:lstStyle/>
                    <a:p>
                      <a:r>
                        <a:rPr lang="en-IN" sz="1600" b="0">
                          <a:solidFill>
                            <a:schemeClr val="tx1"/>
                          </a:solidFill>
                          <a:effectLst/>
                          <a:latin typeface="Times New Roman" panose="02020603050405020304" pitchFamily="18" charset="0"/>
                          <a:cs typeface="Times New Roman" panose="02020603050405020304" pitchFamily="18" charset="0"/>
                        </a:rPr>
                        <a:t>7</a:t>
                      </a:r>
                    </a:p>
                  </a:txBody>
                  <a:tcPr anchor="ctr"/>
                </a:tc>
                <a:tc>
                  <a:txBody>
                    <a:bodyPr/>
                    <a:lstStyle/>
                    <a:p>
                      <a:r>
                        <a:rPr lang="en-IN" sz="1600" b="0" u="none" strike="noStrike" dirty="0">
                          <a:solidFill>
                            <a:schemeClr val="tx1"/>
                          </a:solidFill>
                          <a:effectLst/>
                          <a:latin typeface="Times New Roman" panose="02020603050405020304" pitchFamily="18" charset="0"/>
                          <a:cs typeface="Times New Roman" panose="02020603050405020304" pitchFamily="18" charset="0"/>
                        </a:rPr>
                        <a:t>Southern Railway</a:t>
                      </a:r>
                      <a:endParaRPr lang="en-IN" sz="1600" b="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b="0">
                          <a:solidFill>
                            <a:schemeClr val="tx1"/>
                          </a:solidFill>
                          <a:effectLst/>
                          <a:latin typeface="Times New Roman" panose="02020603050405020304" pitchFamily="18" charset="0"/>
                          <a:cs typeface="Times New Roman" panose="02020603050405020304" pitchFamily="18" charset="0"/>
                        </a:rPr>
                        <a:t>SR</a:t>
                      </a:r>
                    </a:p>
                  </a:txBody>
                  <a:tcPr anchor="ctr"/>
                </a:tc>
                <a:tc>
                  <a:txBody>
                    <a:bodyPr/>
                    <a:lstStyle/>
                    <a:p>
                      <a:r>
                        <a:rPr lang="en-IN" sz="1600" b="0" u="none" strike="noStrike" dirty="0">
                          <a:solidFill>
                            <a:schemeClr val="tx1"/>
                          </a:solidFill>
                          <a:effectLst/>
                          <a:latin typeface="Times New Roman" panose="02020603050405020304" pitchFamily="18" charset="0"/>
                          <a:cs typeface="Times New Roman" panose="02020603050405020304" pitchFamily="18" charset="0"/>
                        </a:rPr>
                        <a:t>Chennai Central</a:t>
                      </a:r>
                      <a:endParaRPr lang="en-IN" sz="1600" b="0" u="none"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25938987"/>
                  </a:ext>
                </a:extLst>
              </a:tr>
              <a:tr h="439075">
                <a:tc>
                  <a:txBody>
                    <a:bodyPr/>
                    <a:lstStyle/>
                    <a:p>
                      <a:r>
                        <a:rPr lang="en-IN" sz="1600" b="0">
                          <a:solidFill>
                            <a:schemeClr val="tx1"/>
                          </a:solidFill>
                          <a:effectLst/>
                          <a:latin typeface="Times New Roman" panose="02020603050405020304" pitchFamily="18" charset="0"/>
                          <a:cs typeface="Times New Roman" panose="02020603050405020304" pitchFamily="18" charset="0"/>
                        </a:rPr>
                        <a:t>8</a:t>
                      </a:r>
                    </a:p>
                  </a:txBody>
                  <a:tcPr anchor="ctr"/>
                </a:tc>
                <a:tc>
                  <a:txBody>
                    <a:bodyPr/>
                    <a:lstStyle/>
                    <a:p>
                      <a:r>
                        <a:rPr lang="en-IN" sz="1600" b="0" u="none" strike="noStrike" dirty="0">
                          <a:solidFill>
                            <a:schemeClr val="tx1"/>
                          </a:solidFill>
                          <a:effectLst/>
                          <a:latin typeface="Times New Roman" panose="02020603050405020304" pitchFamily="18" charset="0"/>
                          <a:cs typeface="Times New Roman" panose="02020603050405020304" pitchFamily="18" charset="0"/>
                        </a:rPr>
                        <a:t>Central Railway</a:t>
                      </a:r>
                      <a:endParaRPr lang="en-IN" sz="1600" b="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b="0" dirty="0">
                          <a:solidFill>
                            <a:schemeClr val="tx1"/>
                          </a:solidFill>
                          <a:effectLst/>
                          <a:latin typeface="Times New Roman" panose="02020603050405020304" pitchFamily="18" charset="0"/>
                          <a:cs typeface="Times New Roman" panose="02020603050405020304" pitchFamily="18" charset="0"/>
                        </a:rPr>
                        <a:t>CR</a:t>
                      </a:r>
                    </a:p>
                  </a:txBody>
                  <a:tcPr anchor="ctr"/>
                </a:tc>
                <a:tc>
                  <a:txBody>
                    <a:bodyPr/>
                    <a:lstStyle/>
                    <a:p>
                      <a:r>
                        <a:rPr lang="en-IN" sz="1600" b="0" u="none" strike="noStrike" dirty="0">
                          <a:solidFill>
                            <a:schemeClr val="tx1"/>
                          </a:solidFill>
                          <a:effectLst/>
                          <a:latin typeface="Times New Roman" panose="02020603050405020304" pitchFamily="18" charset="0"/>
                          <a:cs typeface="Times New Roman" panose="02020603050405020304" pitchFamily="18" charset="0"/>
                        </a:rPr>
                        <a:t>Mumbai CSMT</a:t>
                      </a:r>
                      <a:endParaRPr lang="en-IN" sz="1600" b="0" u="none"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86657712"/>
                  </a:ext>
                </a:extLst>
              </a:tr>
              <a:tr h="550097">
                <a:tc>
                  <a:txBody>
                    <a:bodyPr/>
                    <a:lstStyle/>
                    <a:p>
                      <a:r>
                        <a:rPr lang="en-IN" sz="1600" b="0">
                          <a:solidFill>
                            <a:schemeClr val="tx1"/>
                          </a:solidFill>
                          <a:effectLst/>
                          <a:latin typeface="Times New Roman" panose="02020603050405020304" pitchFamily="18" charset="0"/>
                          <a:cs typeface="Times New Roman" panose="02020603050405020304" pitchFamily="18" charset="0"/>
                        </a:rPr>
                        <a:t>9</a:t>
                      </a:r>
                    </a:p>
                  </a:txBody>
                  <a:tcPr anchor="ctr"/>
                </a:tc>
                <a:tc>
                  <a:txBody>
                    <a:bodyPr/>
                    <a:lstStyle/>
                    <a:p>
                      <a:r>
                        <a:rPr lang="en-IN" sz="1600" b="0" u="none" strike="noStrike" dirty="0">
                          <a:solidFill>
                            <a:schemeClr val="tx1"/>
                          </a:solidFill>
                          <a:effectLst/>
                          <a:latin typeface="Times New Roman" panose="02020603050405020304" pitchFamily="18" charset="0"/>
                          <a:cs typeface="Times New Roman" panose="02020603050405020304" pitchFamily="18" charset="0"/>
                        </a:rPr>
                        <a:t>Western Railway</a:t>
                      </a:r>
                      <a:endParaRPr lang="en-IN" sz="1600" b="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b="0" dirty="0">
                          <a:solidFill>
                            <a:schemeClr val="tx1"/>
                          </a:solidFill>
                          <a:effectLst/>
                          <a:latin typeface="Times New Roman" panose="02020603050405020304" pitchFamily="18" charset="0"/>
                          <a:cs typeface="Times New Roman" panose="02020603050405020304" pitchFamily="18" charset="0"/>
                        </a:rPr>
                        <a:t>WR</a:t>
                      </a:r>
                    </a:p>
                  </a:txBody>
                  <a:tcPr anchor="ctr"/>
                </a:tc>
                <a:tc>
                  <a:txBody>
                    <a:bodyPr/>
                    <a:lstStyle/>
                    <a:p>
                      <a:r>
                        <a:rPr lang="en-IN" sz="1600" b="0" u="none" strike="noStrike" dirty="0">
                          <a:solidFill>
                            <a:schemeClr val="tx1"/>
                          </a:solidFill>
                          <a:effectLst/>
                          <a:latin typeface="Times New Roman" panose="02020603050405020304" pitchFamily="18" charset="0"/>
                          <a:cs typeface="Times New Roman" panose="02020603050405020304" pitchFamily="18" charset="0"/>
                        </a:rPr>
                        <a:t>Mumbai</a:t>
                      </a:r>
                      <a:r>
                        <a:rPr lang="en-IN" sz="1600" b="0" u="none" dirty="0">
                          <a:solidFill>
                            <a:schemeClr val="tx1"/>
                          </a:solidFill>
                          <a:effectLst/>
                          <a:latin typeface="Times New Roman" panose="02020603050405020304" pitchFamily="18" charset="0"/>
                          <a:cs typeface="Times New Roman" panose="02020603050405020304" pitchFamily="18" charset="0"/>
                        </a:rPr>
                        <a:t> (</a:t>
                      </a:r>
                      <a:r>
                        <a:rPr lang="en-IN" sz="1600" b="0" u="none" strike="noStrike" dirty="0">
                          <a:solidFill>
                            <a:schemeClr val="tx1"/>
                          </a:solidFill>
                          <a:effectLst/>
                          <a:latin typeface="Times New Roman" panose="02020603050405020304" pitchFamily="18" charset="0"/>
                          <a:cs typeface="Times New Roman" panose="02020603050405020304" pitchFamily="18" charset="0"/>
                        </a:rPr>
                        <a:t>Churchgate</a:t>
                      </a:r>
                      <a:r>
                        <a:rPr lang="en-IN" sz="1600" b="0" u="none" dirty="0">
                          <a:solidFill>
                            <a:schemeClr val="tx1"/>
                          </a:solidFill>
                          <a:effectLst/>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4095571032"/>
                  </a:ext>
                </a:extLst>
              </a:tr>
            </a:tbl>
          </a:graphicData>
        </a:graphic>
      </p:graphicFrame>
    </p:spTree>
    <p:extLst>
      <p:ext uri="{BB962C8B-B14F-4D97-AF65-F5344CB8AC3E}">
        <p14:creationId xmlns:p14="http://schemas.microsoft.com/office/powerpoint/2010/main" val="2698312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6B3AD4-3427-19D0-000E-BCCF3FCA7FA6}"/>
              </a:ext>
            </a:extLst>
          </p:cNvPr>
          <p:cNvSpPr>
            <a:spLocks noGrp="1"/>
          </p:cNvSpPr>
          <p:nvPr>
            <p:ph type="sldNum" sz="quarter" idx="12"/>
          </p:nvPr>
        </p:nvSpPr>
        <p:spPr/>
        <p:txBody>
          <a:bodyPr/>
          <a:lstStyle/>
          <a:p>
            <a:fld id="{B6F15528-21DE-4FAA-801E-634DDDAF4B2B}" type="slidenum">
              <a:rPr lang="en-IN" smtClean="0"/>
              <a:t>6</a:t>
            </a:fld>
            <a:endParaRPr lang="en-IN"/>
          </a:p>
        </p:txBody>
      </p:sp>
      <p:sp>
        <p:nvSpPr>
          <p:cNvPr id="3" name="Rectangle 2">
            <a:extLst>
              <a:ext uri="{FF2B5EF4-FFF2-40B4-BE49-F238E27FC236}">
                <a16:creationId xmlns:a16="http://schemas.microsoft.com/office/drawing/2014/main" id="{C804CA9C-3963-702D-5F89-1DDC03632638}"/>
              </a:ext>
            </a:extLst>
          </p:cNvPr>
          <p:cNvSpPr/>
          <p:nvPr/>
        </p:nvSpPr>
        <p:spPr>
          <a:xfrm>
            <a:off x="469900" y="425450"/>
            <a:ext cx="9979892" cy="461665"/>
          </a:xfrm>
          <a:prstGeom prst="rect">
            <a:avLst/>
          </a:prstGeom>
          <a:noFill/>
        </p:spPr>
        <p:txBody>
          <a:bodyPr wrap="square" lIns="91440" tIns="45720" rIns="91440" bIns="45720">
            <a:spAutoFit/>
          </a:bodyPr>
          <a:lstStyle/>
          <a:p>
            <a:pPr marL="342900" indent="-342900">
              <a:buFont typeface="Wingdings" panose="05000000000000000000" pitchFamily="2" charset="2"/>
              <a:buChar char="q"/>
            </a:pPr>
            <a:r>
              <a:rPr lang="en-US" sz="2400" b="1" u="sng" dirty="0">
                <a:solidFill>
                  <a:srgbClr val="0070C0"/>
                </a:solidFill>
                <a:latin typeface="Times New Roman" panose="02020603050405020304" pitchFamily="18" charset="0"/>
                <a:cs typeface="Times New Roman" panose="02020603050405020304" pitchFamily="18" charset="0"/>
              </a:rPr>
              <a:t>Zones &amp; Division of Indian Railways :</a:t>
            </a:r>
          </a:p>
        </p:txBody>
      </p:sp>
      <p:graphicFrame>
        <p:nvGraphicFramePr>
          <p:cNvPr id="5" name="Table 4">
            <a:extLst>
              <a:ext uri="{FF2B5EF4-FFF2-40B4-BE49-F238E27FC236}">
                <a16:creationId xmlns:a16="http://schemas.microsoft.com/office/drawing/2014/main" id="{2B13AAFB-B190-DF07-E0B6-9D7FC9FD414E}"/>
              </a:ext>
            </a:extLst>
          </p:cNvPr>
          <p:cNvGraphicFramePr>
            <a:graphicFrameLocks noGrp="1"/>
          </p:cNvGraphicFramePr>
          <p:nvPr>
            <p:extLst>
              <p:ext uri="{D42A27DB-BD31-4B8C-83A1-F6EECF244321}">
                <p14:modId xmlns:p14="http://schemas.microsoft.com/office/powerpoint/2010/main" val="9414687"/>
              </p:ext>
            </p:extLst>
          </p:nvPr>
        </p:nvGraphicFramePr>
        <p:xfrm>
          <a:off x="690514" y="958850"/>
          <a:ext cx="8568392" cy="5800387"/>
        </p:xfrm>
        <a:graphic>
          <a:graphicData uri="http://schemas.openxmlformats.org/drawingml/2006/table">
            <a:tbl>
              <a:tblPr firstRow="1" bandRow="1">
                <a:tableStyleId>{5C22544A-7EE6-4342-B048-85BDC9FD1C3A}</a:tableStyleId>
              </a:tblPr>
              <a:tblGrid>
                <a:gridCol w="1141310">
                  <a:extLst>
                    <a:ext uri="{9D8B030D-6E8A-4147-A177-3AD203B41FA5}">
                      <a16:colId xmlns:a16="http://schemas.microsoft.com/office/drawing/2014/main" val="2291851813"/>
                    </a:ext>
                  </a:extLst>
                </a:gridCol>
                <a:gridCol w="3362476">
                  <a:extLst>
                    <a:ext uri="{9D8B030D-6E8A-4147-A177-3AD203B41FA5}">
                      <a16:colId xmlns:a16="http://schemas.microsoft.com/office/drawing/2014/main" val="4189326634"/>
                    </a:ext>
                  </a:extLst>
                </a:gridCol>
                <a:gridCol w="1752600">
                  <a:extLst>
                    <a:ext uri="{9D8B030D-6E8A-4147-A177-3AD203B41FA5}">
                      <a16:colId xmlns:a16="http://schemas.microsoft.com/office/drawing/2014/main" val="1674761364"/>
                    </a:ext>
                  </a:extLst>
                </a:gridCol>
                <a:gridCol w="2312006">
                  <a:extLst>
                    <a:ext uri="{9D8B030D-6E8A-4147-A177-3AD203B41FA5}">
                      <a16:colId xmlns:a16="http://schemas.microsoft.com/office/drawing/2014/main" val="3746132450"/>
                    </a:ext>
                  </a:extLst>
                </a:gridCol>
              </a:tblGrid>
              <a:tr h="635695">
                <a:tc>
                  <a:txBody>
                    <a:bodyPr/>
                    <a:lstStyle/>
                    <a:p>
                      <a:r>
                        <a:rPr lang="en-US" sz="1800" dirty="0">
                          <a:latin typeface="Times New Roman" panose="02020603050405020304" pitchFamily="18" charset="0"/>
                          <a:cs typeface="Times New Roman" panose="02020603050405020304" pitchFamily="18" charset="0"/>
                        </a:rPr>
                        <a:t>Zone Number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Railway Zone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Code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Zone Headquarters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6531588"/>
                  </a:ext>
                </a:extLst>
              </a:tr>
              <a:tr h="641912">
                <a:tc>
                  <a:txBody>
                    <a:bodyPr/>
                    <a:lstStyle/>
                    <a:p>
                      <a:r>
                        <a:rPr lang="en-IN" sz="1600" dirty="0">
                          <a:solidFill>
                            <a:schemeClr val="tx1"/>
                          </a:solidFill>
                          <a:effectLst/>
                          <a:latin typeface="Times New Roman" panose="02020603050405020304" pitchFamily="18" charset="0"/>
                          <a:cs typeface="Times New Roman" panose="02020603050405020304" pitchFamily="18" charset="0"/>
                        </a:rPr>
                        <a:t>10</a:t>
                      </a:r>
                    </a:p>
                  </a:txBody>
                  <a:tcPr anchor="ctr"/>
                </a:tc>
                <a:tc>
                  <a:txBody>
                    <a:bodyPr/>
                    <a:lstStyle/>
                    <a:p>
                      <a:r>
                        <a:rPr lang="en-IN" sz="1600" u="none" strike="noStrike" dirty="0">
                          <a:solidFill>
                            <a:schemeClr val="tx1"/>
                          </a:solidFill>
                          <a:effectLst/>
                          <a:latin typeface="Times New Roman" panose="02020603050405020304" pitchFamily="18" charset="0"/>
                          <a:cs typeface="Times New Roman" panose="02020603050405020304" pitchFamily="18" charset="0"/>
                        </a:rPr>
                        <a:t>South Western Railway</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a:solidFill>
                            <a:schemeClr val="tx1"/>
                          </a:solidFill>
                          <a:effectLst/>
                          <a:latin typeface="Times New Roman" panose="02020603050405020304" pitchFamily="18" charset="0"/>
                          <a:cs typeface="Times New Roman" panose="02020603050405020304" pitchFamily="18" charset="0"/>
                        </a:rPr>
                        <a:t>SWR</a:t>
                      </a:r>
                    </a:p>
                  </a:txBody>
                  <a:tcPr anchor="ctr"/>
                </a:tc>
                <a:tc>
                  <a:txBody>
                    <a:bodyPr/>
                    <a:lstStyle/>
                    <a:p>
                      <a:r>
                        <a:rPr lang="en-IN" sz="1600" u="none" strike="noStrike" dirty="0" err="1">
                          <a:solidFill>
                            <a:schemeClr val="tx1"/>
                          </a:solidFill>
                          <a:effectLst/>
                          <a:latin typeface="Times New Roman" panose="02020603050405020304" pitchFamily="18" charset="0"/>
                          <a:cs typeface="Times New Roman" panose="02020603050405020304" pitchFamily="18" charset="0"/>
                        </a:rPr>
                        <a:t>Hubballi</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64122272"/>
                  </a:ext>
                </a:extLst>
              </a:tr>
              <a:tr h="631747">
                <a:tc>
                  <a:txBody>
                    <a:bodyPr/>
                    <a:lstStyle/>
                    <a:p>
                      <a:r>
                        <a:rPr lang="en-IN" sz="1600" dirty="0">
                          <a:solidFill>
                            <a:schemeClr val="tx1"/>
                          </a:solidFill>
                          <a:effectLst/>
                          <a:latin typeface="Times New Roman" panose="02020603050405020304" pitchFamily="18" charset="0"/>
                          <a:cs typeface="Times New Roman" panose="02020603050405020304" pitchFamily="18" charset="0"/>
                        </a:rPr>
                        <a:t>11</a:t>
                      </a:r>
                    </a:p>
                  </a:txBody>
                  <a:tcPr anchor="ctr"/>
                </a:tc>
                <a:tc>
                  <a:txBody>
                    <a:bodyPr/>
                    <a:lstStyle/>
                    <a:p>
                      <a:r>
                        <a:rPr lang="en-IN" sz="1600" u="none" strike="noStrike" dirty="0">
                          <a:solidFill>
                            <a:schemeClr val="tx1"/>
                          </a:solidFill>
                          <a:effectLst/>
                          <a:latin typeface="Times New Roman" panose="02020603050405020304" pitchFamily="18" charset="0"/>
                          <a:cs typeface="Times New Roman" panose="02020603050405020304" pitchFamily="18" charset="0"/>
                        </a:rPr>
                        <a:t>North Western Railway</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dirty="0">
                          <a:solidFill>
                            <a:schemeClr val="tx1"/>
                          </a:solidFill>
                          <a:effectLst/>
                          <a:latin typeface="Times New Roman" panose="02020603050405020304" pitchFamily="18" charset="0"/>
                          <a:cs typeface="Times New Roman" panose="02020603050405020304" pitchFamily="18" charset="0"/>
                        </a:rPr>
                        <a:t>NWR</a:t>
                      </a:r>
                    </a:p>
                  </a:txBody>
                  <a:tcPr anchor="ctr"/>
                </a:tc>
                <a:tc>
                  <a:txBody>
                    <a:bodyPr/>
                    <a:lstStyle/>
                    <a:p>
                      <a:r>
                        <a:rPr lang="en-IN" sz="1600" u="none" strike="noStrike" dirty="0">
                          <a:solidFill>
                            <a:schemeClr val="tx1"/>
                          </a:solidFill>
                          <a:effectLst/>
                          <a:latin typeface="Times New Roman" panose="02020603050405020304" pitchFamily="18" charset="0"/>
                          <a:cs typeface="Times New Roman" panose="02020603050405020304" pitchFamily="18" charset="0"/>
                        </a:rPr>
                        <a:t>Jaipur</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62512998"/>
                  </a:ext>
                </a:extLst>
              </a:tr>
              <a:tr h="641912">
                <a:tc>
                  <a:txBody>
                    <a:bodyPr/>
                    <a:lstStyle/>
                    <a:p>
                      <a:r>
                        <a:rPr lang="en-IN" sz="1600" dirty="0">
                          <a:solidFill>
                            <a:schemeClr val="tx1"/>
                          </a:solidFill>
                          <a:effectLst/>
                          <a:latin typeface="Times New Roman" panose="02020603050405020304" pitchFamily="18" charset="0"/>
                          <a:cs typeface="Times New Roman" panose="02020603050405020304" pitchFamily="18" charset="0"/>
                        </a:rPr>
                        <a:t>12</a:t>
                      </a:r>
                    </a:p>
                  </a:txBody>
                  <a:tcPr anchor="ctr"/>
                </a:tc>
                <a:tc>
                  <a:txBody>
                    <a:bodyPr/>
                    <a:lstStyle/>
                    <a:p>
                      <a:r>
                        <a:rPr lang="en-IN" sz="1600" u="none" strike="noStrike" dirty="0">
                          <a:solidFill>
                            <a:schemeClr val="tx1"/>
                          </a:solidFill>
                          <a:effectLst/>
                          <a:latin typeface="Times New Roman" panose="02020603050405020304" pitchFamily="18" charset="0"/>
                          <a:cs typeface="Times New Roman" panose="02020603050405020304" pitchFamily="18" charset="0"/>
                        </a:rPr>
                        <a:t>West Central Railway</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dirty="0">
                          <a:solidFill>
                            <a:schemeClr val="tx1"/>
                          </a:solidFill>
                          <a:effectLst/>
                          <a:latin typeface="Times New Roman" panose="02020603050405020304" pitchFamily="18" charset="0"/>
                          <a:cs typeface="Times New Roman" panose="02020603050405020304" pitchFamily="18" charset="0"/>
                        </a:rPr>
                        <a:t>WCR</a:t>
                      </a:r>
                    </a:p>
                  </a:txBody>
                  <a:tcPr anchor="ctr"/>
                </a:tc>
                <a:tc>
                  <a:txBody>
                    <a:bodyPr/>
                    <a:lstStyle/>
                    <a:p>
                      <a:r>
                        <a:rPr lang="en-IN" sz="1600" u="none" strike="noStrike" dirty="0">
                          <a:solidFill>
                            <a:schemeClr val="tx1"/>
                          </a:solidFill>
                          <a:effectLst/>
                          <a:latin typeface="Times New Roman" panose="02020603050405020304" pitchFamily="18" charset="0"/>
                          <a:cs typeface="Times New Roman" panose="02020603050405020304" pitchFamily="18" charset="0"/>
                        </a:rPr>
                        <a:t>Jabalpur</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71271596"/>
                  </a:ext>
                </a:extLst>
              </a:tr>
              <a:tr h="641912">
                <a:tc>
                  <a:txBody>
                    <a:bodyPr/>
                    <a:lstStyle/>
                    <a:p>
                      <a:r>
                        <a:rPr lang="en-IN" sz="1600">
                          <a:solidFill>
                            <a:schemeClr val="tx1"/>
                          </a:solidFill>
                          <a:effectLst/>
                          <a:latin typeface="Times New Roman" panose="02020603050405020304" pitchFamily="18" charset="0"/>
                          <a:cs typeface="Times New Roman" panose="02020603050405020304" pitchFamily="18" charset="0"/>
                        </a:rPr>
                        <a:t>13</a:t>
                      </a:r>
                    </a:p>
                  </a:txBody>
                  <a:tcPr anchor="ctr"/>
                </a:tc>
                <a:tc>
                  <a:txBody>
                    <a:bodyPr/>
                    <a:lstStyle/>
                    <a:p>
                      <a:r>
                        <a:rPr lang="en-IN" sz="1600" u="none" strike="noStrike" dirty="0">
                          <a:solidFill>
                            <a:schemeClr val="tx1"/>
                          </a:solidFill>
                          <a:effectLst/>
                          <a:latin typeface="Times New Roman" panose="02020603050405020304" pitchFamily="18" charset="0"/>
                          <a:cs typeface="Times New Roman" panose="02020603050405020304" pitchFamily="18" charset="0"/>
                        </a:rPr>
                        <a:t>North Central Railway</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dirty="0">
                          <a:solidFill>
                            <a:schemeClr val="tx1"/>
                          </a:solidFill>
                          <a:effectLst/>
                          <a:latin typeface="Times New Roman" panose="02020603050405020304" pitchFamily="18" charset="0"/>
                          <a:cs typeface="Times New Roman" panose="02020603050405020304" pitchFamily="18" charset="0"/>
                        </a:rPr>
                        <a:t>NCR</a:t>
                      </a:r>
                    </a:p>
                  </a:txBody>
                  <a:tcPr anchor="ctr"/>
                </a:tc>
                <a:tc>
                  <a:txBody>
                    <a:bodyPr/>
                    <a:lstStyle/>
                    <a:p>
                      <a:r>
                        <a:rPr lang="en-IN" sz="1600" u="none" strike="noStrike" dirty="0" err="1">
                          <a:solidFill>
                            <a:schemeClr val="tx1"/>
                          </a:solidFill>
                          <a:effectLst/>
                          <a:latin typeface="Times New Roman" panose="02020603050405020304" pitchFamily="18" charset="0"/>
                          <a:cs typeface="Times New Roman" panose="02020603050405020304" pitchFamily="18" charset="0"/>
                        </a:rPr>
                        <a:t>Prayagraj</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95697909"/>
                  </a:ext>
                </a:extLst>
              </a:tr>
              <a:tr h="641912">
                <a:tc>
                  <a:txBody>
                    <a:bodyPr/>
                    <a:lstStyle/>
                    <a:p>
                      <a:r>
                        <a:rPr lang="en-IN" sz="1600">
                          <a:solidFill>
                            <a:schemeClr val="tx1"/>
                          </a:solidFill>
                          <a:effectLst/>
                          <a:latin typeface="Times New Roman" panose="02020603050405020304" pitchFamily="18" charset="0"/>
                          <a:cs typeface="Times New Roman" panose="02020603050405020304" pitchFamily="18" charset="0"/>
                        </a:rPr>
                        <a:t>14</a:t>
                      </a:r>
                    </a:p>
                  </a:txBody>
                  <a:tcPr anchor="ctr"/>
                </a:tc>
                <a:tc>
                  <a:txBody>
                    <a:bodyPr/>
                    <a:lstStyle/>
                    <a:p>
                      <a:r>
                        <a:rPr lang="en-IN" sz="1600" u="none" strike="noStrike" dirty="0">
                          <a:solidFill>
                            <a:schemeClr val="tx1"/>
                          </a:solidFill>
                          <a:effectLst/>
                          <a:latin typeface="Times New Roman" panose="02020603050405020304" pitchFamily="18" charset="0"/>
                          <a:cs typeface="Times New Roman" panose="02020603050405020304" pitchFamily="18" charset="0"/>
                        </a:rPr>
                        <a:t>South East Central Railway</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dirty="0">
                          <a:solidFill>
                            <a:schemeClr val="tx1"/>
                          </a:solidFill>
                          <a:effectLst/>
                          <a:latin typeface="Times New Roman" panose="02020603050405020304" pitchFamily="18" charset="0"/>
                          <a:cs typeface="Times New Roman" panose="02020603050405020304" pitchFamily="18" charset="0"/>
                        </a:rPr>
                        <a:t>SECR</a:t>
                      </a:r>
                    </a:p>
                  </a:txBody>
                  <a:tcPr anchor="ctr"/>
                </a:tc>
                <a:tc>
                  <a:txBody>
                    <a:bodyPr/>
                    <a:lstStyle/>
                    <a:p>
                      <a:r>
                        <a:rPr lang="en-IN" sz="1600" u="none" strike="noStrike" dirty="0">
                          <a:solidFill>
                            <a:schemeClr val="tx1"/>
                          </a:solidFill>
                          <a:effectLst/>
                          <a:latin typeface="Times New Roman" panose="02020603050405020304" pitchFamily="18" charset="0"/>
                          <a:cs typeface="Times New Roman" panose="02020603050405020304" pitchFamily="18" charset="0"/>
                        </a:rPr>
                        <a:t>Bilaspur</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92656507"/>
                  </a:ext>
                </a:extLst>
              </a:tr>
              <a:tr h="503440">
                <a:tc>
                  <a:txBody>
                    <a:bodyPr/>
                    <a:lstStyle/>
                    <a:p>
                      <a:r>
                        <a:rPr lang="en-IN" sz="1600">
                          <a:solidFill>
                            <a:schemeClr val="tx1"/>
                          </a:solidFill>
                          <a:effectLst/>
                          <a:latin typeface="Times New Roman" panose="02020603050405020304" pitchFamily="18" charset="0"/>
                          <a:cs typeface="Times New Roman" panose="02020603050405020304" pitchFamily="18" charset="0"/>
                        </a:rPr>
                        <a:t>15</a:t>
                      </a:r>
                    </a:p>
                  </a:txBody>
                  <a:tcPr anchor="ctr"/>
                </a:tc>
                <a:tc>
                  <a:txBody>
                    <a:bodyPr/>
                    <a:lstStyle/>
                    <a:p>
                      <a:r>
                        <a:rPr lang="en-IN" sz="1600" u="none" strike="noStrike" dirty="0">
                          <a:solidFill>
                            <a:schemeClr val="tx1"/>
                          </a:solidFill>
                          <a:effectLst/>
                          <a:latin typeface="Times New Roman" panose="02020603050405020304" pitchFamily="18" charset="0"/>
                          <a:cs typeface="Times New Roman" panose="02020603050405020304" pitchFamily="18" charset="0"/>
                        </a:rPr>
                        <a:t>East Coast Railway</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dirty="0" err="1">
                          <a:solidFill>
                            <a:schemeClr val="tx1"/>
                          </a:solidFill>
                          <a:effectLst/>
                          <a:latin typeface="Times New Roman" panose="02020603050405020304" pitchFamily="18" charset="0"/>
                          <a:cs typeface="Times New Roman" panose="02020603050405020304" pitchFamily="18" charset="0"/>
                        </a:rPr>
                        <a:t>ECoR</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r>
                        <a:rPr lang="en-IN" sz="1600" u="none" strike="noStrike" dirty="0">
                          <a:solidFill>
                            <a:schemeClr val="tx1"/>
                          </a:solidFill>
                          <a:effectLst/>
                          <a:latin typeface="Times New Roman" panose="02020603050405020304" pitchFamily="18" charset="0"/>
                          <a:cs typeface="Times New Roman" panose="02020603050405020304" pitchFamily="18" charset="0"/>
                        </a:rPr>
                        <a:t>Bhubaneswar</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20336010"/>
                  </a:ext>
                </a:extLst>
              </a:tr>
              <a:tr h="503440">
                <a:tc>
                  <a:txBody>
                    <a:bodyPr/>
                    <a:lstStyle/>
                    <a:p>
                      <a:r>
                        <a:rPr lang="en-IN" sz="1600">
                          <a:solidFill>
                            <a:schemeClr val="tx1"/>
                          </a:solidFill>
                          <a:effectLst/>
                          <a:latin typeface="Times New Roman" panose="02020603050405020304" pitchFamily="18" charset="0"/>
                          <a:cs typeface="Times New Roman" panose="02020603050405020304" pitchFamily="18" charset="0"/>
                        </a:rPr>
                        <a:t>16</a:t>
                      </a:r>
                    </a:p>
                  </a:txBody>
                  <a:tcPr anchor="ctr"/>
                </a:tc>
                <a:tc>
                  <a:txBody>
                    <a:bodyPr/>
                    <a:lstStyle/>
                    <a:p>
                      <a:r>
                        <a:rPr lang="en-IN" sz="1600" u="none" strike="noStrike" dirty="0">
                          <a:solidFill>
                            <a:schemeClr val="tx1"/>
                          </a:solidFill>
                          <a:effectLst/>
                          <a:latin typeface="Times New Roman" panose="02020603050405020304" pitchFamily="18" charset="0"/>
                          <a:cs typeface="Times New Roman" panose="02020603050405020304" pitchFamily="18" charset="0"/>
                        </a:rPr>
                        <a:t>East Central Railway</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dirty="0">
                          <a:solidFill>
                            <a:schemeClr val="tx1"/>
                          </a:solidFill>
                          <a:effectLst/>
                          <a:latin typeface="Times New Roman" panose="02020603050405020304" pitchFamily="18" charset="0"/>
                          <a:cs typeface="Times New Roman" panose="02020603050405020304" pitchFamily="18" charset="0"/>
                        </a:rPr>
                        <a:t>ECR</a:t>
                      </a:r>
                    </a:p>
                  </a:txBody>
                  <a:tcPr anchor="ctr"/>
                </a:tc>
                <a:tc>
                  <a:txBody>
                    <a:bodyPr/>
                    <a:lstStyle/>
                    <a:p>
                      <a:r>
                        <a:rPr lang="en-US" sz="1600" dirty="0" err="1">
                          <a:solidFill>
                            <a:schemeClr val="tx1"/>
                          </a:solidFill>
                          <a:effectLst/>
                          <a:latin typeface="Times New Roman" panose="02020603050405020304" pitchFamily="18" charset="0"/>
                          <a:cs typeface="Times New Roman" panose="02020603050405020304" pitchFamily="18" charset="0"/>
                        </a:rPr>
                        <a:t>Hajipur</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25938987"/>
                  </a:ext>
                </a:extLst>
              </a:tr>
              <a:tr h="447391">
                <a:tc>
                  <a:txBody>
                    <a:bodyPr/>
                    <a:lstStyle/>
                    <a:p>
                      <a:r>
                        <a:rPr lang="en-IN" sz="1600">
                          <a:solidFill>
                            <a:schemeClr val="tx1"/>
                          </a:solidFill>
                          <a:effectLst/>
                          <a:latin typeface="Times New Roman" panose="02020603050405020304" pitchFamily="18" charset="0"/>
                          <a:cs typeface="Times New Roman" panose="02020603050405020304" pitchFamily="18" charset="0"/>
                        </a:rPr>
                        <a:t>17</a:t>
                      </a:r>
                    </a:p>
                  </a:txBody>
                  <a:tcPr anchor="ctr"/>
                </a:tc>
                <a:tc>
                  <a:txBody>
                    <a:bodyPr/>
                    <a:lstStyle/>
                    <a:p>
                      <a:r>
                        <a:rPr lang="en-IN" sz="1600" u="none" strike="noStrike" dirty="0">
                          <a:solidFill>
                            <a:schemeClr val="tx1"/>
                          </a:solidFill>
                          <a:effectLst/>
                          <a:latin typeface="Times New Roman" panose="02020603050405020304" pitchFamily="18" charset="0"/>
                          <a:cs typeface="Times New Roman" panose="02020603050405020304" pitchFamily="18" charset="0"/>
                        </a:rPr>
                        <a:t>Konkan Railway</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a:solidFill>
                            <a:schemeClr val="tx1"/>
                          </a:solidFill>
                          <a:effectLst/>
                          <a:latin typeface="Times New Roman" panose="02020603050405020304" pitchFamily="18" charset="0"/>
                          <a:cs typeface="Times New Roman" panose="02020603050405020304" pitchFamily="18" charset="0"/>
                        </a:rPr>
                        <a:t>KR</a:t>
                      </a:r>
                    </a:p>
                  </a:txBody>
                  <a:tcPr anchor="ctr"/>
                </a:tc>
                <a:tc>
                  <a:txBody>
                    <a:bodyPr/>
                    <a:lstStyle/>
                    <a:p>
                      <a:r>
                        <a:rPr lang="en-IN" sz="1600" u="none" strike="noStrike" dirty="0">
                          <a:solidFill>
                            <a:schemeClr val="tx1"/>
                          </a:solidFill>
                          <a:effectLst/>
                          <a:latin typeface="Times New Roman" panose="02020603050405020304" pitchFamily="18" charset="0"/>
                          <a:cs typeface="Times New Roman" panose="02020603050405020304" pitchFamily="18" charset="0"/>
                        </a:rPr>
                        <a:t>Navi Mumbai</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86657712"/>
                  </a:ext>
                </a:extLst>
              </a:tr>
              <a:tr h="506641">
                <a:tc>
                  <a:txBody>
                    <a:bodyPr/>
                    <a:lstStyle/>
                    <a:p>
                      <a:r>
                        <a:rPr lang="en-IN" sz="1600">
                          <a:solidFill>
                            <a:schemeClr val="tx1"/>
                          </a:solidFill>
                          <a:effectLst/>
                          <a:latin typeface="Times New Roman" panose="02020603050405020304" pitchFamily="18" charset="0"/>
                          <a:cs typeface="Times New Roman" panose="02020603050405020304" pitchFamily="18" charset="0"/>
                        </a:rPr>
                        <a:t>18</a:t>
                      </a:r>
                    </a:p>
                  </a:txBody>
                  <a:tcPr anchor="ctr"/>
                </a:tc>
                <a:tc>
                  <a:txBody>
                    <a:bodyPr/>
                    <a:lstStyle/>
                    <a:p>
                      <a:r>
                        <a:rPr lang="en-IN" sz="1600" u="none" strike="noStrike" dirty="0">
                          <a:solidFill>
                            <a:schemeClr val="tx1"/>
                          </a:solidFill>
                          <a:effectLst/>
                          <a:latin typeface="Times New Roman" panose="02020603050405020304" pitchFamily="18" charset="0"/>
                          <a:cs typeface="Times New Roman" panose="02020603050405020304" pitchFamily="18" charset="0"/>
                        </a:rPr>
                        <a:t>South Coast Railway</a:t>
                      </a:r>
                      <a:r>
                        <a:rPr lang="en-IN" sz="1600" b="0" i="0" u="none" strike="noStrike" baseline="30000" dirty="0">
                          <a:solidFill>
                            <a:schemeClr val="tx1"/>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[45]</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600" dirty="0" err="1">
                          <a:solidFill>
                            <a:schemeClr val="tx1"/>
                          </a:solidFill>
                          <a:effectLst/>
                          <a:latin typeface="Times New Roman" panose="02020603050405020304" pitchFamily="18" charset="0"/>
                          <a:cs typeface="Times New Roman" panose="02020603050405020304" pitchFamily="18" charset="0"/>
                        </a:rPr>
                        <a:t>SCoR</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r>
                        <a:rPr lang="en-IN" sz="1600" u="none" strike="noStrike" dirty="0">
                          <a:solidFill>
                            <a:schemeClr val="tx1"/>
                          </a:solidFill>
                          <a:effectLst/>
                          <a:latin typeface="Times New Roman" panose="02020603050405020304" pitchFamily="18" charset="0"/>
                          <a:cs typeface="Times New Roman" panose="02020603050405020304" pitchFamily="18" charset="0"/>
                        </a:rPr>
                        <a:t>Visakhapatnam</a:t>
                      </a:r>
                      <a:endParaRPr lang="en-IN" sz="1600"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95571032"/>
                  </a:ext>
                </a:extLst>
              </a:tr>
            </a:tbl>
          </a:graphicData>
        </a:graphic>
      </p:graphicFrame>
    </p:spTree>
    <p:extLst>
      <p:ext uri="{BB962C8B-B14F-4D97-AF65-F5344CB8AC3E}">
        <p14:creationId xmlns:p14="http://schemas.microsoft.com/office/powerpoint/2010/main" val="1246128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967D6D-350B-FCEC-1F6A-A0C1DB064CAD}"/>
              </a:ext>
            </a:extLst>
          </p:cNvPr>
          <p:cNvSpPr>
            <a:spLocks noGrp="1"/>
          </p:cNvSpPr>
          <p:nvPr>
            <p:ph type="sldNum" sz="quarter" idx="12"/>
          </p:nvPr>
        </p:nvSpPr>
        <p:spPr/>
        <p:txBody>
          <a:bodyPr/>
          <a:lstStyle/>
          <a:p>
            <a:fld id="{B6F15528-21DE-4FAA-801E-634DDDAF4B2B}" type="slidenum">
              <a:rPr lang="en-IN" smtClean="0"/>
              <a:t>7</a:t>
            </a:fld>
            <a:endParaRPr lang="en-IN"/>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E2D451C9-4D97-60E4-B167-D68D3519A76D}"/>
                  </a:ext>
                </a:extLst>
              </p:cNvPr>
              <p:cNvSpPr/>
              <p:nvPr/>
            </p:nvSpPr>
            <p:spPr>
              <a:xfrm>
                <a:off x="241300" y="654050"/>
                <a:ext cx="9979892" cy="4640886"/>
              </a:xfrm>
              <a:prstGeom prst="rect">
                <a:avLst/>
              </a:prstGeom>
              <a:noFill/>
            </p:spPr>
            <p:txBody>
              <a:bodyPr wrap="square" lIns="91440" tIns="45720" rIns="91440" bIns="45720">
                <a:spAutoFit/>
              </a:bodyPr>
              <a:lstStyle/>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As of March 2022, IR’s rolling stocks consisted of 3,18,196 freight wagons, 84,863 passenger coaches and 13,215 locomotives. Track sections are rated speed ranging from 80 to 200 km/hr.</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1,676 mm (5 ft 6 in) broad gauge is the gauge used by IR and spans almost the entire network as of March 31, 2022. It is the broadest gauge in use across the world for regular passenger movement.</a:t>
                </a:r>
              </a:p>
              <a:p>
                <a:pPr marL="285750" indent="-285750" algn="l">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1,000 mm (3 ft </a:t>
                </a:r>
                <a14:m>
                  <m:oMath xmlns:m="http://schemas.openxmlformats.org/officeDocument/2006/math">
                    <m:r>
                      <a:rPr lang="en-US" dirty="0" smtClean="0">
                        <a:latin typeface="Cambria Math" panose="02040503050406030204" pitchFamily="18" charset="0"/>
                      </a:rPr>
                      <m:t>3</m:t>
                    </m:r>
                    <m:f>
                      <m:fPr>
                        <m:ctrlPr>
                          <a:rPr lang="en-US" i="1" dirty="0" smtClean="0">
                            <a:solidFill>
                              <a:srgbClr val="836967"/>
                            </a:solidFill>
                            <a:latin typeface="Cambria Math" panose="02040503050406030204" pitchFamily="18" charset="0"/>
                          </a:rPr>
                        </m:ctrlPr>
                      </m:fPr>
                      <m:num>
                        <m:r>
                          <a:rPr lang="en-US" i="0" dirty="0" smtClean="0">
                            <a:latin typeface="Cambria Math" panose="02040503050406030204" pitchFamily="18" charset="0"/>
                          </a:rPr>
                          <m:t>3</m:t>
                        </m:r>
                      </m:num>
                      <m:den>
                        <m:r>
                          <a:rPr lang="en-US" i="0" dirty="0" smtClean="0">
                            <a:latin typeface="Cambria Math" panose="02040503050406030204" pitchFamily="18" charset="0"/>
                          </a:rPr>
                          <m:t>8</m:t>
                        </m:r>
                      </m:den>
                    </m:f>
                  </m:oMath>
                </a14:m>
                <a:r>
                  <a:rPr lang="en-US" dirty="0">
                    <a:latin typeface="Times New Roman" panose="02020603050405020304" pitchFamily="18" charset="0"/>
                    <a:cs typeface="Times New Roman" panose="02020603050405020304" pitchFamily="18" charset="0"/>
                  </a:rPr>
                  <a:t>in) </a:t>
                </a:r>
                <a:r>
                  <a:rPr lang="en-US" dirty="0" err="1">
                    <a:latin typeface="Times New Roman" panose="02020603050405020304" pitchFamily="18" charset="0"/>
                    <a:cs typeface="Times New Roman" panose="02020603050405020304" pitchFamily="18" charset="0"/>
                  </a:rPr>
                  <a:t>metre</a:t>
                </a:r>
                <a:r>
                  <a:rPr lang="en-US" dirty="0">
                    <a:latin typeface="Times New Roman" panose="02020603050405020304" pitchFamily="18" charset="0"/>
                    <a:cs typeface="Times New Roman" panose="02020603050405020304" pitchFamily="18" charset="0"/>
                  </a:rPr>
                  <a:t> gauge tracks and 762 mm (2 ft 6 in) and 610 mm (2 ft) narrow gauge tracks are present only on the heritage routes as of March 31, 2022. </a:t>
                </a:r>
              </a:p>
              <a:p>
                <a:pPr marL="285750" indent="-285750" algn="l">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As of 31 July 2023, IR has electrified 59,524 km (36,986 mi) of the total broad-gauge route kilometers. Indian Railway uses 25 kV 50 Hz AC traction on all its electrified tracks.</a:t>
                </a:r>
              </a:p>
            </p:txBody>
          </p:sp>
        </mc:Choice>
        <mc:Fallback xmlns="">
          <p:sp>
            <p:nvSpPr>
              <p:cNvPr id="4" name="Rectangle 3">
                <a:extLst>
                  <a:ext uri="{FF2B5EF4-FFF2-40B4-BE49-F238E27FC236}">
                    <a16:creationId xmlns:a16="http://schemas.microsoft.com/office/drawing/2014/main" id="{E2D451C9-4D97-60E4-B167-D68D3519A76D}"/>
                  </a:ext>
                </a:extLst>
              </p:cNvPr>
              <p:cNvSpPr>
                <a:spLocks noRot="1" noChangeAspect="1" noMove="1" noResize="1" noEditPoints="1" noAdjustHandles="1" noChangeArrowheads="1" noChangeShapeType="1" noTextEdit="1"/>
              </p:cNvSpPr>
              <p:nvPr/>
            </p:nvSpPr>
            <p:spPr>
              <a:xfrm>
                <a:off x="241300" y="654050"/>
                <a:ext cx="9979892" cy="4640886"/>
              </a:xfrm>
              <a:prstGeom prst="rect">
                <a:avLst/>
              </a:prstGeom>
              <a:blipFill>
                <a:blip r:embed="rId2"/>
                <a:stretch>
                  <a:fillRect l="-428" t="-656" r="-489" b="-1050"/>
                </a:stretch>
              </a:blipFill>
            </p:spPr>
            <p:txBody>
              <a:bodyPr/>
              <a:lstStyle/>
              <a:p>
                <a:r>
                  <a:rPr lang="en-IN">
                    <a:noFill/>
                  </a:rPr>
                  <a:t> </a:t>
                </a:r>
              </a:p>
            </p:txBody>
          </p:sp>
        </mc:Fallback>
      </mc:AlternateContent>
    </p:spTree>
    <p:extLst>
      <p:ext uri="{BB962C8B-B14F-4D97-AF65-F5344CB8AC3E}">
        <p14:creationId xmlns:p14="http://schemas.microsoft.com/office/powerpoint/2010/main" val="3005534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94A23F3E-CC92-878C-9088-1BEB14707728}"/>
              </a:ext>
            </a:extLst>
          </p:cNvPr>
          <p:cNvSpPr/>
          <p:nvPr/>
        </p:nvSpPr>
        <p:spPr>
          <a:xfrm>
            <a:off x="165100" y="1486840"/>
            <a:ext cx="6705600" cy="646331"/>
          </a:xfrm>
          <a:prstGeom prst="homePlat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Times New Roman" panose="02020603050405020304" pitchFamily="18" charset="0"/>
                <a:cs typeface="Times New Roman" panose="02020603050405020304" pitchFamily="18" charset="0"/>
              </a:rPr>
              <a:t>1.2 Introduction: Railway accidents in India</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1C2018B6-1212-9B9F-D6DD-2D7D9A204F44}"/>
              </a:ext>
            </a:extLst>
          </p:cNvPr>
          <p:cNvSpPr/>
          <p:nvPr/>
        </p:nvSpPr>
        <p:spPr>
          <a:xfrm>
            <a:off x="3708400" y="196850"/>
            <a:ext cx="3276600" cy="6858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CHAPTER-1</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E961E5B2-7099-120D-D1FD-B77ACDDFE654}"/>
              </a:ext>
            </a:extLst>
          </p:cNvPr>
          <p:cNvSpPr/>
          <p:nvPr/>
        </p:nvSpPr>
        <p:spPr>
          <a:xfrm>
            <a:off x="165100" y="2275696"/>
            <a:ext cx="9979892" cy="369332"/>
          </a:xfrm>
          <a:prstGeom prst="rect">
            <a:avLst/>
          </a:prstGeom>
          <a:noFill/>
        </p:spPr>
        <p:txBody>
          <a:bodyPr wrap="square" lIns="91440" tIns="45720" rIns="91440" bIns="45720">
            <a:spAutoFit/>
          </a:bodyPr>
          <a:lstStyle/>
          <a:p>
            <a:endParaRPr lang="en-US"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72E662E8-123B-5A81-870D-D7BDED3088B3}"/>
              </a:ext>
            </a:extLst>
          </p:cNvPr>
          <p:cNvSpPr>
            <a:spLocks noGrp="1"/>
          </p:cNvSpPr>
          <p:nvPr>
            <p:ph type="sldNum" sz="quarter" idx="12"/>
          </p:nvPr>
        </p:nvSpPr>
        <p:spPr/>
        <p:txBody>
          <a:bodyPr/>
          <a:lstStyle/>
          <a:p>
            <a:fld id="{B6F15528-21DE-4FAA-801E-634DDDAF4B2B}" type="slidenum">
              <a:rPr lang="en-IN" smtClean="0"/>
              <a:t>8</a:t>
            </a:fld>
            <a:endParaRPr lang="en-IN"/>
          </a:p>
        </p:txBody>
      </p:sp>
      <p:sp>
        <p:nvSpPr>
          <p:cNvPr id="3" name="TextBox 2">
            <a:extLst>
              <a:ext uri="{FF2B5EF4-FFF2-40B4-BE49-F238E27FC236}">
                <a16:creationId xmlns:a16="http://schemas.microsoft.com/office/drawing/2014/main" id="{B0C81187-EEF4-356B-19C5-2A85EE46C772}"/>
              </a:ext>
            </a:extLst>
          </p:cNvPr>
          <p:cNvSpPr txBox="1"/>
          <p:nvPr/>
        </p:nvSpPr>
        <p:spPr>
          <a:xfrm>
            <a:off x="157018" y="2358554"/>
            <a:ext cx="10058400" cy="4247317"/>
          </a:xfrm>
          <a:prstGeom prst="rect">
            <a:avLst/>
          </a:prstGeom>
          <a:noFill/>
        </p:spPr>
        <p:txBody>
          <a:bodyPr wrap="square">
            <a:spAutoFit/>
          </a:bodyPr>
          <a:lstStyle/>
          <a:p>
            <a:pPr algn="just"/>
            <a:r>
              <a:rPr lang="en-US" b="0" i="0" dirty="0">
                <a:effectLst/>
                <a:latin typeface="Times New Roman" panose="02020603050405020304" pitchFamily="18" charset="0"/>
                <a:cs typeface="Times New Roman" panose="02020603050405020304" pitchFamily="18" charset="0"/>
              </a:rPr>
              <a:t>The Indian Railways is one of the largest railway networks in the world, with millions of people relying on it for transportation every day. Statistics show that over the last two decades, the number of derailments which constitute the majority of accidents has drastically declined from around 350 per year around the turn of the millennium, to 22 in 2021-22. </a:t>
            </a:r>
          </a:p>
          <a:p>
            <a:pPr algn="just"/>
            <a:r>
              <a:rPr lang="en-US" b="0" i="0" dirty="0">
                <a:effectLst/>
                <a:latin typeface="Times New Roman" panose="02020603050405020304" pitchFamily="18" charset="0"/>
                <a:cs typeface="Times New Roman" panose="02020603050405020304" pitchFamily="18" charset="0"/>
              </a:rPr>
              <a:t>However, accidents like the one that occurred at </a:t>
            </a:r>
            <a:r>
              <a:rPr lang="en-US" b="0" i="0" dirty="0" err="1">
                <a:effectLst/>
                <a:latin typeface="Times New Roman" panose="02020603050405020304" pitchFamily="18" charset="0"/>
                <a:cs typeface="Times New Roman" panose="02020603050405020304" pitchFamily="18" charset="0"/>
              </a:rPr>
              <a:t>Bahanaga</a:t>
            </a:r>
            <a:r>
              <a:rPr lang="en-US" b="0" i="0" dirty="0">
                <a:effectLst/>
                <a:latin typeface="Times New Roman" panose="02020603050405020304" pitchFamily="18" charset="0"/>
                <a:cs typeface="Times New Roman" panose="02020603050405020304" pitchFamily="18" charset="0"/>
              </a:rPr>
              <a:t> Bazar railway station at </a:t>
            </a:r>
            <a:r>
              <a:rPr lang="en-US" b="0" i="0" dirty="0" err="1">
                <a:effectLst/>
                <a:latin typeface="Times New Roman" panose="02020603050405020304" pitchFamily="18" charset="0"/>
                <a:cs typeface="Times New Roman" panose="02020603050405020304" pitchFamily="18" charset="0"/>
              </a:rPr>
              <a:t>Balasore</a:t>
            </a:r>
            <a:r>
              <a:rPr lang="en-US" b="0" i="0" dirty="0">
                <a:effectLst/>
                <a:latin typeface="Times New Roman" panose="02020603050405020304" pitchFamily="18" charset="0"/>
                <a:cs typeface="Times New Roman" panose="02020603050405020304" pitchFamily="18" charset="0"/>
              </a:rPr>
              <a:t> highlight the need for better safety measures and infrastructure. The loss of so many lives is a tragic reminder of the importance of ensuring that the railways are safe for everyone who uses them.</a:t>
            </a:r>
          </a:p>
          <a:p>
            <a:pPr algn="just"/>
            <a:r>
              <a:rPr lang="en-US" b="0" i="0" dirty="0">
                <a:effectLst/>
                <a:latin typeface="Times New Roman" panose="02020603050405020304" pitchFamily="18" charset="0"/>
                <a:cs typeface="Times New Roman" panose="02020603050405020304" pitchFamily="18" charset="0"/>
              </a:rPr>
              <a:t>In response to this incident, there have been calls for accountability from those in charge of the Railways, as well as a need to address the systemic issues that may have contributed to the accident. Experts are offering suggestions on how to prevent similar incidents from happening in the future, such as improving </a:t>
            </a:r>
            <a:r>
              <a:rPr lang="en-US" b="0" i="0" dirty="0" err="1">
                <a:effectLst/>
                <a:latin typeface="Times New Roman" panose="02020603050405020304" pitchFamily="18" charset="0"/>
                <a:cs typeface="Times New Roman" panose="02020603050405020304" pitchFamily="18" charset="0"/>
              </a:rPr>
              <a:t>signalling</a:t>
            </a:r>
            <a:r>
              <a:rPr lang="en-US" b="0" i="0" dirty="0">
                <a:effectLst/>
                <a:latin typeface="Times New Roman" panose="02020603050405020304" pitchFamily="18" charset="0"/>
                <a:cs typeface="Times New Roman" panose="02020603050405020304" pitchFamily="18" charset="0"/>
              </a:rPr>
              <a:t> systems and investing in better technology.</a:t>
            </a:r>
          </a:p>
          <a:p>
            <a:pPr algn="just"/>
            <a:r>
              <a:rPr lang="en-US" b="0" i="0" dirty="0">
                <a:effectLst/>
                <a:latin typeface="Times New Roman" panose="02020603050405020304" pitchFamily="18" charset="0"/>
                <a:cs typeface="Times New Roman" panose="02020603050405020304" pitchFamily="18" charset="0"/>
              </a:rPr>
              <a:t>Furthermore, there have been comparisons made with Railway systems abroad, highlighting the need for India to improve its infrastructure and safety measures to match those of other countries. Overall, this incident has brought attention to the importance of ensuring that the Indian Railways are safe and reliable for everyone who uses them.</a:t>
            </a:r>
          </a:p>
        </p:txBody>
      </p:sp>
    </p:spTree>
    <p:extLst>
      <p:ext uri="{BB962C8B-B14F-4D97-AF65-F5344CB8AC3E}">
        <p14:creationId xmlns:p14="http://schemas.microsoft.com/office/powerpoint/2010/main" val="779310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967D6D-350B-FCEC-1F6A-A0C1DB064CAD}"/>
              </a:ext>
            </a:extLst>
          </p:cNvPr>
          <p:cNvSpPr>
            <a:spLocks noGrp="1"/>
          </p:cNvSpPr>
          <p:nvPr>
            <p:ph type="sldNum" sz="quarter" idx="12"/>
          </p:nvPr>
        </p:nvSpPr>
        <p:spPr/>
        <p:txBody>
          <a:bodyPr/>
          <a:lstStyle/>
          <a:p>
            <a:fld id="{B6F15528-21DE-4FAA-801E-634DDDAF4B2B}" type="slidenum">
              <a:rPr lang="en-IN" smtClean="0"/>
              <a:t>9</a:t>
            </a:fld>
            <a:endParaRPr lang="en-IN"/>
          </a:p>
        </p:txBody>
      </p:sp>
      <p:sp>
        <p:nvSpPr>
          <p:cNvPr id="4" name="Rectangle 3">
            <a:extLst>
              <a:ext uri="{FF2B5EF4-FFF2-40B4-BE49-F238E27FC236}">
                <a16:creationId xmlns:a16="http://schemas.microsoft.com/office/drawing/2014/main" id="{E2D451C9-4D97-60E4-B167-D68D3519A76D}"/>
              </a:ext>
            </a:extLst>
          </p:cNvPr>
          <p:cNvSpPr/>
          <p:nvPr/>
        </p:nvSpPr>
        <p:spPr>
          <a:xfrm>
            <a:off x="241300" y="654050"/>
            <a:ext cx="9979892" cy="5355312"/>
          </a:xfrm>
          <a:prstGeom prst="rect">
            <a:avLst/>
          </a:prstGeom>
          <a:noFill/>
        </p:spPr>
        <p:txBody>
          <a:bodyPr wrap="square" lIns="91440" tIns="45720" rIns="91440" bIns="45720">
            <a:spAutoFit/>
          </a:bodyPr>
          <a:lstStyle/>
          <a:p>
            <a:r>
              <a:rPr lang="en-US" dirty="0">
                <a:latin typeface="Times New Roman" panose="02020603050405020304" pitchFamily="18" charset="0"/>
                <a:cs typeface="Times New Roman" panose="02020603050405020304" pitchFamily="18" charset="0"/>
              </a:rPr>
              <a:t>A total of 281 railway accidents experienced by IR since 1900s to till September 2023, out of these 276 accidents approximately 115+ accidents were due to derailments.</a:t>
            </a:r>
          </a:p>
          <a:p>
            <a:r>
              <a:rPr lang="en-US" dirty="0">
                <a:latin typeface="Times New Roman" panose="02020603050405020304" pitchFamily="18" charset="0"/>
                <a:cs typeface="Times New Roman" panose="02020603050405020304" pitchFamily="18" charset="0"/>
              </a:rPr>
              <a:t>Other major causes are Collison and fire.</a:t>
            </a:r>
          </a:p>
          <a:p>
            <a:endParaRPr lang="en-US" dirty="0">
              <a:latin typeface="Times New Roman" panose="02020603050405020304" pitchFamily="18" charset="0"/>
              <a:cs typeface="Times New Roman" panose="02020603050405020304" pitchFamily="18" charset="0"/>
            </a:endParaRPr>
          </a:p>
          <a:p>
            <a:r>
              <a:rPr lang="en-US" b="0" i="0" dirty="0">
                <a:effectLst/>
                <a:latin typeface="Times New Roman" panose="02020603050405020304" pitchFamily="18" charset="0"/>
                <a:cs typeface="Times New Roman" panose="02020603050405020304" pitchFamily="18" charset="0"/>
              </a:rPr>
              <a:t>In the past two to three decades, technological advancement has reached its peak. Indian railways has also embraced all of the useful technology, from the integration of </a:t>
            </a:r>
            <a:r>
              <a:rPr lang="en-US" b="0" i="0" u="none" strike="noStrike" dirty="0">
                <a:effectLst/>
                <a:latin typeface="Times New Roman" panose="02020603050405020304" pitchFamily="18" charset="0"/>
                <a:cs typeface="Times New Roman" panose="02020603050405020304" pitchFamily="18" charset="0"/>
              </a:rPr>
              <a:t>rail app</a:t>
            </a:r>
            <a:r>
              <a:rPr lang="en-US" b="0" i="0" dirty="0">
                <a:effectLst/>
                <a:latin typeface="Times New Roman" panose="02020603050405020304" pitchFamily="18" charset="0"/>
                <a:cs typeface="Times New Roman" panose="02020603050405020304" pitchFamily="18" charset="0"/>
              </a:rPr>
              <a:t> to </a:t>
            </a:r>
            <a:r>
              <a:rPr lang="en-US" b="1" i="0" dirty="0" err="1">
                <a:effectLst/>
                <a:latin typeface="Times New Roman" panose="02020603050405020304" pitchFamily="18" charset="0"/>
                <a:cs typeface="Times New Roman" panose="02020603050405020304" pitchFamily="18" charset="0"/>
              </a:rPr>
              <a:t>Kavach</a:t>
            </a:r>
            <a:r>
              <a:rPr lang="en-US" b="0" i="0" dirty="0">
                <a:effectLst/>
                <a:latin typeface="Times New Roman" panose="02020603050405020304" pitchFamily="18" charset="0"/>
                <a:cs typeface="Times New Roman" panose="02020603050405020304" pitchFamily="18" charset="0"/>
              </a:rPr>
              <a:t> technology, to ensure the safest and easier train experience for rail passengers. But still, unfortunately, Indian railways have to face rail accidents resulting in the loss of human lives and resources. </a:t>
            </a:r>
          </a:p>
          <a:p>
            <a:endParaRPr lang="en-US" b="0" i="0" dirty="0">
              <a:effectLst/>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exact causes of the derailments/collisions can be widely varied – such as malfunctioning of signals or engine-drivers failing to react to signals – and hence difficult to analyze systematically. Moreover, it would require a large amount of time and official help (from the IR authorities) to know the exact details of the neighboring circumstances of each accident. However, it is clear from the frequent derailments and collisions of trains that the IR infrastructure is under tremendous strain, which forms the basis of the repeated accidents. Further, looking carefully at the sites of the accidents</a:t>
            </a:r>
            <a:endParaRPr lang="en-US" b="0" i="0" dirty="0">
              <a:effectLst/>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5052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94A23F3E-CC92-878C-9088-1BEB14707728}"/>
              </a:ext>
            </a:extLst>
          </p:cNvPr>
          <p:cNvSpPr/>
          <p:nvPr/>
        </p:nvSpPr>
        <p:spPr>
          <a:xfrm>
            <a:off x="165100" y="1486840"/>
            <a:ext cx="2286000" cy="646331"/>
          </a:xfrm>
          <a:prstGeom prst="homePlat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Times New Roman" panose="02020603050405020304" pitchFamily="18" charset="0"/>
                <a:cs typeface="Times New Roman" panose="02020603050405020304" pitchFamily="18" charset="0"/>
              </a:rPr>
              <a:t>2.0 General</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1C2018B6-1212-9B9F-D6DD-2D7D9A204F44}"/>
              </a:ext>
            </a:extLst>
          </p:cNvPr>
          <p:cNvSpPr/>
          <p:nvPr/>
        </p:nvSpPr>
        <p:spPr>
          <a:xfrm>
            <a:off x="2283758" y="196850"/>
            <a:ext cx="6125884" cy="6858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CHAPTER-2 Literature Review</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E961E5B2-7099-120D-D1FD-B77ACDDFE654}"/>
              </a:ext>
            </a:extLst>
          </p:cNvPr>
          <p:cNvSpPr/>
          <p:nvPr/>
        </p:nvSpPr>
        <p:spPr>
          <a:xfrm>
            <a:off x="165100" y="2275696"/>
            <a:ext cx="9979892" cy="369332"/>
          </a:xfrm>
          <a:prstGeom prst="rect">
            <a:avLst/>
          </a:prstGeom>
          <a:noFill/>
        </p:spPr>
        <p:txBody>
          <a:bodyPr wrap="square" lIns="91440" tIns="45720" rIns="91440" bIns="45720">
            <a:spAutoFit/>
          </a:bodyPr>
          <a:lstStyle/>
          <a:p>
            <a:endParaRPr lang="en-US"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72E662E8-123B-5A81-870D-D7BDED3088B3}"/>
              </a:ext>
            </a:extLst>
          </p:cNvPr>
          <p:cNvSpPr>
            <a:spLocks noGrp="1"/>
          </p:cNvSpPr>
          <p:nvPr>
            <p:ph type="sldNum" sz="quarter" idx="12"/>
          </p:nvPr>
        </p:nvSpPr>
        <p:spPr/>
        <p:txBody>
          <a:bodyPr/>
          <a:lstStyle/>
          <a:p>
            <a:fld id="{B6F15528-21DE-4FAA-801E-634DDDAF4B2B}" type="slidenum">
              <a:rPr lang="en-IN" smtClean="0"/>
              <a:t>10</a:t>
            </a:fld>
            <a:endParaRPr lang="en-IN"/>
          </a:p>
        </p:txBody>
      </p:sp>
      <p:sp>
        <p:nvSpPr>
          <p:cNvPr id="3" name="TextBox 2">
            <a:extLst>
              <a:ext uri="{FF2B5EF4-FFF2-40B4-BE49-F238E27FC236}">
                <a16:creationId xmlns:a16="http://schemas.microsoft.com/office/drawing/2014/main" id="{B0C81187-EEF4-356B-19C5-2A85EE46C772}"/>
              </a:ext>
            </a:extLst>
          </p:cNvPr>
          <p:cNvSpPr txBox="1"/>
          <p:nvPr/>
        </p:nvSpPr>
        <p:spPr>
          <a:xfrm>
            <a:off x="165100" y="2387713"/>
            <a:ext cx="10058400" cy="2585323"/>
          </a:xfrm>
          <a:prstGeom prst="rect">
            <a:avLst/>
          </a:prstGeom>
          <a:noFill/>
        </p:spPr>
        <p:txBody>
          <a:bodyPr wrap="square">
            <a:spAutoFit/>
          </a:bodyPr>
          <a:lstStyle/>
          <a:p>
            <a:pPr marL="285750" indent="-285750" algn="just">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As of our last knowledge update in January 2023, We can provide you with a general overview of railway accidents in India based on historical data. However, for the most up-to-date and comprehensive literature review, We recommend checking academic databases, journals, and government reports for recent studies and analyses.</a:t>
            </a:r>
          </a:p>
          <a:p>
            <a:pPr marL="285750" indent="-285750" algn="just">
              <a:buFont typeface="Wingdings" panose="05000000000000000000" pitchFamily="2" charset="2"/>
              <a:buChar char="q"/>
            </a:pPr>
            <a:endParaRPr lang="en-US" b="0" i="0"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endParaRPr lang="en-US" b="0" i="0"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Furthermore, We have reviewed several types of accident related literature where we have identified the main causes of accidents in Indian Railways.</a:t>
            </a:r>
          </a:p>
        </p:txBody>
      </p:sp>
    </p:spTree>
    <p:extLst>
      <p:ext uri="{BB962C8B-B14F-4D97-AF65-F5344CB8AC3E}">
        <p14:creationId xmlns:p14="http://schemas.microsoft.com/office/powerpoint/2010/main" val="595061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94A23F3E-CC92-878C-9088-1BEB14707728}"/>
              </a:ext>
            </a:extLst>
          </p:cNvPr>
          <p:cNvSpPr/>
          <p:nvPr/>
        </p:nvSpPr>
        <p:spPr>
          <a:xfrm>
            <a:off x="165100" y="1486840"/>
            <a:ext cx="3810000" cy="646331"/>
          </a:xfrm>
          <a:prstGeom prst="homePlat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Times New Roman" panose="02020603050405020304" pitchFamily="18" charset="0"/>
                <a:cs typeface="Times New Roman" panose="02020603050405020304" pitchFamily="18" charset="0"/>
              </a:rPr>
              <a:t>2.1 Literature Review</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1C2018B6-1212-9B9F-D6DD-2D7D9A204F44}"/>
              </a:ext>
            </a:extLst>
          </p:cNvPr>
          <p:cNvSpPr/>
          <p:nvPr/>
        </p:nvSpPr>
        <p:spPr>
          <a:xfrm>
            <a:off x="2283758" y="196850"/>
            <a:ext cx="6125884" cy="6858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CHAPTER-2 Literature Review</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72E662E8-123B-5A81-870D-D7BDED3088B3}"/>
              </a:ext>
            </a:extLst>
          </p:cNvPr>
          <p:cNvSpPr>
            <a:spLocks noGrp="1"/>
          </p:cNvSpPr>
          <p:nvPr>
            <p:ph type="sldNum" sz="quarter" idx="12"/>
          </p:nvPr>
        </p:nvSpPr>
        <p:spPr/>
        <p:txBody>
          <a:bodyPr/>
          <a:lstStyle/>
          <a:p>
            <a:fld id="{B6F15528-21DE-4FAA-801E-634DDDAF4B2B}" type="slidenum">
              <a:rPr lang="en-IN" smtClean="0"/>
              <a:t>11</a:t>
            </a:fld>
            <a:endParaRPr lang="en-IN"/>
          </a:p>
        </p:txBody>
      </p:sp>
      <p:sp>
        <p:nvSpPr>
          <p:cNvPr id="7" name="TextBox 6">
            <a:extLst>
              <a:ext uri="{FF2B5EF4-FFF2-40B4-BE49-F238E27FC236}">
                <a16:creationId xmlns:a16="http://schemas.microsoft.com/office/drawing/2014/main" id="{404FE4E6-8F77-DA29-A352-FFB4F4CA87E9}"/>
              </a:ext>
            </a:extLst>
          </p:cNvPr>
          <p:cNvSpPr txBox="1"/>
          <p:nvPr/>
        </p:nvSpPr>
        <p:spPr>
          <a:xfrm>
            <a:off x="165100" y="2279330"/>
            <a:ext cx="10287000" cy="707886"/>
          </a:xfrm>
          <a:prstGeom prst="rect">
            <a:avLst/>
          </a:prstGeom>
          <a:noFill/>
        </p:spPr>
        <p:txBody>
          <a:bodyPr wrap="square">
            <a:spAutoFit/>
          </a:bodyPr>
          <a:lstStyle/>
          <a:p>
            <a:pPr marL="457200" indent="-457200" algn="l">
              <a:buAutoNum type="arabicPeriod"/>
            </a:pPr>
            <a:r>
              <a:rPr lang="en-US" sz="2000" b="1" i="0" u="sng" dirty="0">
                <a:solidFill>
                  <a:srgbClr val="0070C0"/>
                </a:solidFill>
                <a:effectLst/>
                <a:latin typeface="ElsevierGulliver"/>
                <a:hlinkClick r:id="rId2">
                  <a:extLst>
                    <a:ext uri="{A12FA001-AC4F-418D-AE19-62706E023703}">
                      <ahyp:hlinkClr xmlns:ahyp="http://schemas.microsoft.com/office/drawing/2018/hyperlinkcolor" val="tx"/>
                    </a:ext>
                  </a:extLst>
                </a:hlinkClick>
              </a:rPr>
              <a:t>Some insights on the recent spate of accidents in Indian Railways-  </a:t>
            </a:r>
            <a:r>
              <a:rPr lang="en-US" sz="2000" b="1" i="0" u="sng" dirty="0" err="1">
                <a:solidFill>
                  <a:srgbClr val="0070C0"/>
                </a:solidFill>
                <a:effectLst/>
                <a:latin typeface="ElsevierGulliver"/>
                <a:hlinkClick r:id="rId2">
                  <a:extLst>
                    <a:ext uri="{A12FA001-AC4F-418D-AE19-62706E023703}">
                      <ahyp:hlinkClr xmlns:ahyp="http://schemas.microsoft.com/office/drawing/2018/hyperlinkcolor" val="tx"/>
                    </a:ext>
                  </a:extLst>
                </a:hlinkClick>
              </a:rPr>
              <a:t>Saptarshi</a:t>
            </a:r>
            <a:r>
              <a:rPr lang="en-US" sz="2000" b="1" i="0" u="sng" dirty="0">
                <a:solidFill>
                  <a:srgbClr val="0070C0"/>
                </a:solidFill>
                <a:effectLst/>
                <a:latin typeface="ElsevierGulliver"/>
                <a:hlinkClick r:id="rId2">
                  <a:extLst>
                    <a:ext uri="{A12FA001-AC4F-418D-AE19-62706E023703}">
                      <ahyp:hlinkClr xmlns:ahyp="http://schemas.microsoft.com/office/drawing/2018/hyperlinkcolor" val="tx"/>
                    </a:ext>
                  </a:extLst>
                </a:hlinkClick>
              </a:rPr>
              <a:t> Ghosh, Avishek Banerjee, </a:t>
            </a:r>
            <a:r>
              <a:rPr lang="en-US" sz="2000" b="1" i="0" u="sng" dirty="0" err="1">
                <a:solidFill>
                  <a:srgbClr val="0070C0"/>
                </a:solidFill>
                <a:effectLst/>
                <a:latin typeface="ElsevierGulliver"/>
                <a:hlinkClick r:id="rId2">
                  <a:extLst>
                    <a:ext uri="{A12FA001-AC4F-418D-AE19-62706E023703}">
                      <ahyp:hlinkClr xmlns:ahyp="http://schemas.microsoft.com/office/drawing/2018/hyperlinkcolor" val="tx"/>
                    </a:ext>
                  </a:extLst>
                </a:hlinkClick>
              </a:rPr>
              <a:t>Niloy</a:t>
            </a:r>
            <a:r>
              <a:rPr lang="en-US" sz="2000" b="1" i="0" u="sng" dirty="0">
                <a:solidFill>
                  <a:srgbClr val="0070C0"/>
                </a:solidFill>
                <a:effectLst/>
                <a:latin typeface="ElsevierGulliver"/>
                <a:hlinkClick r:id="rId2">
                  <a:extLst>
                    <a:ext uri="{A12FA001-AC4F-418D-AE19-62706E023703}">
                      <ahyp:hlinkClr xmlns:ahyp="http://schemas.microsoft.com/office/drawing/2018/hyperlinkcolor" val="tx"/>
                    </a:ext>
                  </a:extLst>
                </a:hlinkClick>
              </a:rPr>
              <a:t> Ganguly- </a:t>
            </a:r>
            <a:r>
              <a:rPr lang="en-US" sz="2000" b="1" i="0" u="sng" dirty="0" err="1">
                <a:solidFill>
                  <a:srgbClr val="0070C0"/>
                </a:solidFill>
                <a:effectLst/>
                <a:latin typeface="ElsevierGulliver"/>
                <a:hlinkClick r:id="rId2">
                  <a:extLst>
                    <a:ext uri="{A12FA001-AC4F-418D-AE19-62706E023703}">
                      <ahyp:hlinkClr xmlns:ahyp="http://schemas.microsoft.com/office/drawing/2018/hyperlinkcolor" val="tx"/>
                    </a:ext>
                  </a:extLst>
                </a:hlinkClick>
              </a:rPr>
              <a:t>Derpartment</a:t>
            </a:r>
            <a:r>
              <a:rPr lang="en-US" sz="2000" b="1" i="0" u="sng" dirty="0">
                <a:solidFill>
                  <a:srgbClr val="0070C0"/>
                </a:solidFill>
                <a:effectLst/>
                <a:latin typeface="ElsevierGulliver"/>
                <a:hlinkClick r:id="rId2">
                  <a:extLst>
                    <a:ext uri="{A12FA001-AC4F-418D-AE19-62706E023703}">
                      <ahyp:hlinkClr xmlns:ahyp="http://schemas.microsoft.com/office/drawing/2018/hyperlinkcolor" val="tx"/>
                    </a:ext>
                  </a:extLst>
                </a:hlinkClick>
              </a:rPr>
              <a:t> of CSE, IIT KGP, India, 721302</a:t>
            </a:r>
            <a:r>
              <a:rPr lang="en-US" sz="2000" b="1" i="0" u="sng" dirty="0">
                <a:solidFill>
                  <a:srgbClr val="0070C0"/>
                </a:solidFill>
                <a:effectLst/>
                <a:latin typeface="ElsevierGulliver"/>
              </a:rPr>
              <a:t>- 14-01-2012</a:t>
            </a:r>
          </a:p>
        </p:txBody>
      </p:sp>
      <p:sp>
        <p:nvSpPr>
          <p:cNvPr id="14" name="TextBox 13">
            <a:extLst>
              <a:ext uri="{FF2B5EF4-FFF2-40B4-BE49-F238E27FC236}">
                <a16:creationId xmlns:a16="http://schemas.microsoft.com/office/drawing/2014/main" id="{873707C7-0483-CA0D-2E15-7B7BEF1DF22A}"/>
              </a:ext>
            </a:extLst>
          </p:cNvPr>
          <p:cNvSpPr txBox="1"/>
          <p:nvPr/>
        </p:nvSpPr>
        <p:spPr>
          <a:xfrm>
            <a:off x="393700" y="3028003"/>
            <a:ext cx="10058400" cy="3970318"/>
          </a:xfrm>
          <a:prstGeom prst="rect">
            <a:avLst/>
          </a:prstGeom>
          <a:noFill/>
        </p:spPr>
        <p:txBody>
          <a:bodyPr wrap="square">
            <a:spAutoFit/>
          </a:bodyPr>
          <a:lstStyle/>
          <a:p>
            <a:pPr algn="just"/>
            <a:r>
              <a:rPr lang="en-US" b="0" i="0" dirty="0">
                <a:solidFill>
                  <a:srgbClr val="1F1F1F"/>
                </a:solidFill>
                <a:effectLst/>
                <a:latin typeface="Times New Roman" panose="02020603050405020304" pitchFamily="18" charset="0"/>
                <a:cs typeface="Times New Roman" panose="02020603050405020304" pitchFamily="18" charset="0"/>
              </a:rPr>
              <a:t>Indian Railways (IR), the largest rail passenger carrier in the world, has experienced 11 major accidents due to derailment or collision between trains in the year 2010, leading to several human casualties and large-scale disruptions in traffic. Alarmingly, 8 of these 11 accidents have occurred within a specific geographical region known as the Indo-Gangetic plain. In order to identify the general causes of such frequent accidents, and the specific factors leading to repeated accidents in a particular region, we systematically collect and analyze data of IR traffic over the last two decades. We find that there has been an unbalanced growth in IR traffic in the Indo-Gangetic plain over the last two decades, and consequently most of the high-traffic rail-routes presently lie in this region. However, construction of new tracks and train-routes has been nominal compared to the increase in traffic, leading to frequent congestion and over-utilization of existing tracks. Modeling the traffic-flow using computer simulations, we also show that if all trains were to travel in accordance with the IR schedule, the present infrastructure would be insufficient to handle the resultant traffic-flow in some of the high-traffic routes. Hence this study reflects some of the inherent problems in the scheduling of trains and evolution of IR, and also identifies several regions where traffic is likely to exceed safe limits.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771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94A23F3E-CC92-878C-9088-1BEB14707728}"/>
              </a:ext>
            </a:extLst>
          </p:cNvPr>
          <p:cNvSpPr/>
          <p:nvPr/>
        </p:nvSpPr>
        <p:spPr>
          <a:xfrm>
            <a:off x="165100" y="1458702"/>
            <a:ext cx="3810000" cy="646331"/>
          </a:xfrm>
          <a:prstGeom prst="homePlat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Times New Roman" panose="02020603050405020304" pitchFamily="18" charset="0"/>
                <a:cs typeface="Times New Roman" panose="02020603050405020304" pitchFamily="18" charset="0"/>
              </a:rPr>
              <a:t>2.1 Literature Review</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1C2018B6-1212-9B9F-D6DD-2D7D9A204F44}"/>
              </a:ext>
            </a:extLst>
          </p:cNvPr>
          <p:cNvSpPr/>
          <p:nvPr/>
        </p:nvSpPr>
        <p:spPr>
          <a:xfrm>
            <a:off x="2283758" y="196850"/>
            <a:ext cx="6125884" cy="6858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CHAPTER-2 Literature Review</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72E662E8-123B-5A81-870D-D7BDED3088B3}"/>
              </a:ext>
            </a:extLst>
          </p:cNvPr>
          <p:cNvSpPr>
            <a:spLocks noGrp="1"/>
          </p:cNvSpPr>
          <p:nvPr>
            <p:ph type="sldNum" sz="quarter" idx="12"/>
          </p:nvPr>
        </p:nvSpPr>
        <p:spPr/>
        <p:txBody>
          <a:bodyPr/>
          <a:lstStyle/>
          <a:p>
            <a:fld id="{B6F15528-21DE-4FAA-801E-634DDDAF4B2B}" type="slidenum">
              <a:rPr lang="en-IN" smtClean="0"/>
              <a:t>12</a:t>
            </a:fld>
            <a:endParaRPr lang="en-IN"/>
          </a:p>
        </p:txBody>
      </p:sp>
      <p:sp>
        <p:nvSpPr>
          <p:cNvPr id="7" name="TextBox 6">
            <a:extLst>
              <a:ext uri="{FF2B5EF4-FFF2-40B4-BE49-F238E27FC236}">
                <a16:creationId xmlns:a16="http://schemas.microsoft.com/office/drawing/2014/main" id="{404FE4E6-8F77-DA29-A352-FFB4F4CA87E9}"/>
              </a:ext>
            </a:extLst>
          </p:cNvPr>
          <p:cNvSpPr txBox="1"/>
          <p:nvPr/>
        </p:nvSpPr>
        <p:spPr>
          <a:xfrm>
            <a:off x="317500" y="2315248"/>
            <a:ext cx="10058400" cy="707886"/>
          </a:xfrm>
          <a:prstGeom prst="rect">
            <a:avLst/>
          </a:prstGeom>
          <a:noFill/>
        </p:spPr>
        <p:txBody>
          <a:bodyPr wrap="square">
            <a:spAutoFit/>
          </a:bodyPr>
          <a:lstStyle/>
          <a:p>
            <a:pPr algn="l"/>
            <a:r>
              <a:rPr lang="en-US" sz="2000" b="1" i="0" u="sng" dirty="0">
                <a:solidFill>
                  <a:srgbClr val="0070C0"/>
                </a:solidFill>
                <a:effectLst/>
                <a:latin typeface="ElsevierGulliver"/>
                <a:hlinkClick r:id="rId2">
                  <a:extLst>
                    <a:ext uri="{A12FA001-AC4F-418D-AE19-62706E023703}">
                      <ahyp:hlinkClr xmlns:ahyp="http://schemas.microsoft.com/office/drawing/2018/hyperlinkcolor" val="tx"/>
                    </a:ext>
                  </a:extLst>
                </a:hlinkClick>
              </a:rPr>
              <a:t>2. </a:t>
            </a:r>
            <a:r>
              <a:rPr lang="en-US" sz="2000" b="1" u="sng" dirty="0">
                <a:solidFill>
                  <a:srgbClr val="0070C0"/>
                </a:solidFill>
                <a:hlinkClick r:id="rId2">
                  <a:extLst>
                    <a:ext uri="{A12FA001-AC4F-418D-AE19-62706E023703}">
                      <ahyp:hlinkClr xmlns:ahyp="http://schemas.microsoft.com/office/drawing/2018/hyperlinkcolor" val="tx"/>
                    </a:ext>
                  </a:extLst>
                </a:hlinkClick>
              </a:rPr>
              <a:t>Trends in Causes and Impacts of Accidents in Indian Railway- SB </a:t>
            </a:r>
            <a:r>
              <a:rPr lang="en-US" sz="2000" b="1" u="sng" dirty="0" err="1">
                <a:solidFill>
                  <a:srgbClr val="0070C0"/>
                </a:solidFill>
                <a:hlinkClick r:id="rId2">
                  <a:extLst>
                    <a:ext uri="{A12FA001-AC4F-418D-AE19-62706E023703}">
                      <ahyp:hlinkClr xmlns:ahyp="http://schemas.microsoft.com/office/drawing/2018/hyperlinkcolor" val="tx"/>
                    </a:ext>
                  </a:extLst>
                </a:hlinkClick>
              </a:rPr>
              <a:t>Aher</a:t>
            </a:r>
            <a:r>
              <a:rPr lang="en-US" sz="2000" b="1" u="sng" dirty="0">
                <a:solidFill>
                  <a:srgbClr val="0070C0"/>
                </a:solidFill>
                <a:hlinkClick r:id="rId2">
                  <a:extLst>
                    <a:ext uri="{A12FA001-AC4F-418D-AE19-62706E023703}">
                      <ahyp:hlinkClr xmlns:ahyp="http://schemas.microsoft.com/office/drawing/2018/hyperlinkcolor" val="tx"/>
                    </a:ext>
                  </a:extLst>
                </a:hlinkClick>
              </a:rPr>
              <a:t>, DR Tiwary, Indian Institute of Soil science, Bhopal, MP, India- 462038 , 2018</a:t>
            </a:r>
            <a:endParaRPr lang="en-US" sz="2000" b="1" i="0" u="sng" dirty="0">
              <a:solidFill>
                <a:srgbClr val="0070C0"/>
              </a:solidFill>
              <a:effectLst/>
              <a:latin typeface="ElsevierGulliver"/>
            </a:endParaRPr>
          </a:p>
        </p:txBody>
      </p:sp>
      <p:sp>
        <p:nvSpPr>
          <p:cNvPr id="14" name="TextBox 13">
            <a:extLst>
              <a:ext uri="{FF2B5EF4-FFF2-40B4-BE49-F238E27FC236}">
                <a16:creationId xmlns:a16="http://schemas.microsoft.com/office/drawing/2014/main" id="{873707C7-0483-CA0D-2E15-7B7BEF1DF22A}"/>
              </a:ext>
            </a:extLst>
          </p:cNvPr>
          <p:cNvSpPr txBox="1"/>
          <p:nvPr/>
        </p:nvSpPr>
        <p:spPr>
          <a:xfrm>
            <a:off x="317500" y="3046800"/>
            <a:ext cx="10058400" cy="3693319"/>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On analyzing the paper, the safety on the railways is the end product of the coordination among all the factors. The recent rail accidents have drawn the attention of everyone in the country. Considering the facts, an analysis of accidents that occurred in Indian Railway during 2000-2016 was carried out to study the trends in causes and impacts. A compressive examination of past 16 year data revealed that, the dominating accidents, derailment and level crossing mishaps together constituted ninety percent of total rail accidents in India. Out of the total accidents, eighty-five percent accidents were caused due to human error. Among the total people affected by railway accidents, twenty-seven percent lost their life while seventy three percent got injured and IR faced a total loss of 86,486 crore INR. It means every fourth person affected by railway accidents lost his life. On an average, 0.76 persons got killed and caused a loss of Rs.31 crore per accident to Indian Railway in past 16 years. The total number of accidents and their causes in Indian Railway were found in decreasing trend over the years but the number of persons killed and economic loss associated per accident showed an increasing trend indicating an increase in severity of the railway accidents.</a:t>
            </a:r>
          </a:p>
        </p:txBody>
      </p:sp>
    </p:spTree>
    <p:extLst>
      <p:ext uri="{BB962C8B-B14F-4D97-AF65-F5344CB8AC3E}">
        <p14:creationId xmlns:p14="http://schemas.microsoft.com/office/powerpoint/2010/main" val="3792761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94A23F3E-CC92-878C-9088-1BEB14707728}"/>
              </a:ext>
            </a:extLst>
          </p:cNvPr>
          <p:cNvSpPr/>
          <p:nvPr/>
        </p:nvSpPr>
        <p:spPr>
          <a:xfrm>
            <a:off x="165100" y="1458702"/>
            <a:ext cx="3810000" cy="646331"/>
          </a:xfrm>
          <a:prstGeom prst="homePlat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Times New Roman" panose="02020603050405020304" pitchFamily="18" charset="0"/>
                <a:cs typeface="Times New Roman" panose="02020603050405020304" pitchFamily="18" charset="0"/>
              </a:rPr>
              <a:t>2.1 Literature Review</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1C2018B6-1212-9B9F-D6DD-2D7D9A204F44}"/>
              </a:ext>
            </a:extLst>
          </p:cNvPr>
          <p:cNvSpPr/>
          <p:nvPr/>
        </p:nvSpPr>
        <p:spPr>
          <a:xfrm>
            <a:off x="2283758" y="196850"/>
            <a:ext cx="6125884" cy="6858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CHAPTER-2 Literature Review</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72E662E8-123B-5A81-870D-D7BDED3088B3}"/>
              </a:ext>
            </a:extLst>
          </p:cNvPr>
          <p:cNvSpPr>
            <a:spLocks noGrp="1"/>
          </p:cNvSpPr>
          <p:nvPr>
            <p:ph type="sldNum" sz="quarter" idx="12"/>
          </p:nvPr>
        </p:nvSpPr>
        <p:spPr/>
        <p:txBody>
          <a:bodyPr/>
          <a:lstStyle/>
          <a:p>
            <a:fld id="{B6F15528-21DE-4FAA-801E-634DDDAF4B2B}" type="slidenum">
              <a:rPr lang="en-IN" smtClean="0"/>
              <a:t>13</a:t>
            </a:fld>
            <a:endParaRPr lang="en-IN"/>
          </a:p>
        </p:txBody>
      </p:sp>
      <p:sp>
        <p:nvSpPr>
          <p:cNvPr id="7" name="TextBox 6">
            <a:extLst>
              <a:ext uri="{FF2B5EF4-FFF2-40B4-BE49-F238E27FC236}">
                <a16:creationId xmlns:a16="http://schemas.microsoft.com/office/drawing/2014/main" id="{404FE4E6-8F77-DA29-A352-FFB4F4CA87E9}"/>
              </a:ext>
            </a:extLst>
          </p:cNvPr>
          <p:cNvSpPr txBox="1"/>
          <p:nvPr/>
        </p:nvSpPr>
        <p:spPr>
          <a:xfrm>
            <a:off x="317500" y="2291687"/>
            <a:ext cx="10058400" cy="707886"/>
          </a:xfrm>
          <a:prstGeom prst="rect">
            <a:avLst/>
          </a:prstGeom>
          <a:noFill/>
        </p:spPr>
        <p:txBody>
          <a:bodyPr wrap="square">
            <a:spAutoFit/>
          </a:bodyPr>
          <a:lstStyle/>
          <a:p>
            <a:pPr algn="l"/>
            <a:r>
              <a:rPr lang="en-US" sz="2000" b="1" u="sng" dirty="0">
                <a:solidFill>
                  <a:srgbClr val="0070C0"/>
                </a:solidFill>
                <a:latin typeface="ElsevierGulliver"/>
                <a:hlinkClick r:id="rId2">
                  <a:extLst>
                    <a:ext uri="{A12FA001-AC4F-418D-AE19-62706E023703}">
                      <ahyp:hlinkClr xmlns:ahyp="http://schemas.microsoft.com/office/drawing/2018/hyperlinkcolor" val="tx"/>
                    </a:ext>
                  </a:extLst>
                </a:hlinkClick>
              </a:rPr>
              <a:t>3</a:t>
            </a:r>
            <a:r>
              <a:rPr lang="en-US" sz="2000" b="1" i="0" u="sng" dirty="0">
                <a:solidFill>
                  <a:srgbClr val="0070C0"/>
                </a:solidFill>
                <a:effectLst/>
                <a:latin typeface="ElsevierGulliver"/>
                <a:hlinkClick r:id="rId2">
                  <a:extLst>
                    <a:ext uri="{A12FA001-AC4F-418D-AE19-62706E023703}">
                      <ahyp:hlinkClr xmlns:ahyp="http://schemas.microsoft.com/office/drawing/2018/hyperlinkcolor" val="tx"/>
                    </a:ext>
                  </a:extLst>
                </a:hlinkClick>
              </a:rPr>
              <a:t>. </a:t>
            </a:r>
            <a:r>
              <a:rPr lang="en-US" sz="2000" b="1" u="sng" dirty="0">
                <a:solidFill>
                  <a:srgbClr val="0070C0"/>
                </a:solidFill>
                <a:hlinkClick r:id="rId2">
                  <a:extLst>
                    <a:ext uri="{A12FA001-AC4F-418D-AE19-62706E023703}">
                      <ahyp:hlinkClr xmlns:ahyp="http://schemas.microsoft.com/office/drawing/2018/hyperlinkcolor" val="tx"/>
                    </a:ext>
                  </a:extLst>
                </a:hlinkClick>
              </a:rPr>
              <a:t>Railway Disasters in India: Causes, Effects and Management- SB </a:t>
            </a:r>
            <a:r>
              <a:rPr lang="en-US" sz="2000" b="1" u="sng" dirty="0" err="1">
                <a:solidFill>
                  <a:srgbClr val="0070C0"/>
                </a:solidFill>
                <a:hlinkClick r:id="rId2">
                  <a:extLst>
                    <a:ext uri="{A12FA001-AC4F-418D-AE19-62706E023703}">
                      <ahyp:hlinkClr xmlns:ahyp="http://schemas.microsoft.com/office/drawing/2018/hyperlinkcolor" val="tx"/>
                    </a:ext>
                  </a:extLst>
                </a:hlinkClick>
              </a:rPr>
              <a:t>Aher</a:t>
            </a:r>
            <a:r>
              <a:rPr lang="en-US" sz="2000" b="1" u="sng" dirty="0">
                <a:solidFill>
                  <a:srgbClr val="0070C0"/>
                </a:solidFill>
                <a:hlinkClick r:id="rId2">
                  <a:extLst>
                    <a:ext uri="{A12FA001-AC4F-418D-AE19-62706E023703}">
                      <ahyp:hlinkClr xmlns:ahyp="http://schemas.microsoft.com/office/drawing/2018/hyperlinkcolor" val="tx"/>
                    </a:ext>
                  </a:extLst>
                </a:hlinkClick>
              </a:rPr>
              <a:t>, DR Tiwary, Indian Institute of Soil science, Bhopal, MP, India- 462038, June, 2018 </a:t>
            </a:r>
            <a:endParaRPr lang="en-US" sz="2000" b="1" i="0" u="sng" dirty="0">
              <a:solidFill>
                <a:srgbClr val="0070C0"/>
              </a:solidFill>
              <a:effectLst/>
              <a:latin typeface="ElsevierGulliver"/>
            </a:endParaRPr>
          </a:p>
        </p:txBody>
      </p:sp>
      <p:sp>
        <p:nvSpPr>
          <p:cNvPr id="14" name="TextBox 13">
            <a:extLst>
              <a:ext uri="{FF2B5EF4-FFF2-40B4-BE49-F238E27FC236}">
                <a16:creationId xmlns:a16="http://schemas.microsoft.com/office/drawing/2014/main" id="{873707C7-0483-CA0D-2E15-7B7BEF1DF22A}"/>
              </a:ext>
            </a:extLst>
          </p:cNvPr>
          <p:cNvSpPr txBox="1"/>
          <p:nvPr/>
        </p:nvSpPr>
        <p:spPr>
          <a:xfrm>
            <a:off x="317500" y="3016250"/>
            <a:ext cx="10058400" cy="3970318"/>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Present study was conducted to study the causes, impacts and management of disasters in Indian Railway. In order to fulfill the objectives of the study, the secondary data with respect to number of railway accidents, financial losses, deaths, injuries, the causes of railway accidents etc. The disaster management system in Indian Railway was studied with respect to railway disasters. The Ministry of Railways (</a:t>
            </a:r>
            <a:r>
              <a:rPr lang="en-US" dirty="0" err="1">
                <a:latin typeface="Times New Roman" panose="02020603050405020304" pitchFamily="18" charset="0"/>
                <a:cs typeface="Times New Roman" panose="02020603050405020304" pitchFamily="18" charset="0"/>
              </a:rPr>
              <a:t>MoR</a:t>
            </a:r>
            <a:r>
              <a:rPr lang="en-US" dirty="0">
                <a:latin typeface="Times New Roman" panose="02020603050405020304" pitchFamily="18" charset="0"/>
                <a:cs typeface="Times New Roman" panose="02020603050405020304" pitchFamily="18" charset="0"/>
              </a:rPr>
              <a:t>) has the disaster management plan for management of the Railway Disaster at national, zonal and divisional level which provides the framework for prevention, mitigation, preparedness, rescue, relief and rehabilitation through risk identification, hazard mapping, preventive and anti- sabotage security system, crowd management plans, 'Golden Hour' response, hospital disaster plan, training, technology up gradation, periodic mock drills etc. The results revealed that there are four major categories of accidents viz. derailment, level crossing accidents, collisions and fire in trains which are caused by three major factors viz. human error, equipment failure, and sabotage. Out of total accidents occurred in Indian Railway derailments, level crossing accidents, collisions and fire accidents were 58%, 32%, 5% and 3%, respectively. 85% accidents were caused due to human error, whereas failure of </a:t>
            </a:r>
            <a:r>
              <a:rPr lang="en-US" dirty="0" err="1">
                <a:latin typeface="Times New Roman" panose="02020603050405020304" pitchFamily="18" charset="0"/>
                <a:cs typeface="Times New Roman" panose="02020603050405020304" pitchFamily="18" charset="0"/>
              </a:rPr>
              <a:t>equipments</a:t>
            </a:r>
            <a:r>
              <a:rPr lang="en-US" dirty="0">
                <a:latin typeface="Times New Roman" panose="02020603050405020304" pitchFamily="18" charset="0"/>
                <a:cs typeface="Times New Roman" panose="02020603050405020304" pitchFamily="18" charset="0"/>
              </a:rPr>
              <a:t> and sabotage contributed to 5% and 4% accidents, respectively. </a:t>
            </a:r>
          </a:p>
        </p:txBody>
      </p:sp>
    </p:spTree>
    <p:extLst>
      <p:ext uri="{BB962C8B-B14F-4D97-AF65-F5344CB8AC3E}">
        <p14:creationId xmlns:p14="http://schemas.microsoft.com/office/powerpoint/2010/main" val="1503131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94A23F3E-CC92-878C-9088-1BEB14707728}"/>
              </a:ext>
            </a:extLst>
          </p:cNvPr>
          <p:cNvSpPr/>
          <p:nvPr/>
        </p:nvSpPr>
        <p:spPr>
          <a:xfrm>
            <a:off x="165100" y="1458702"/>
            <a:ext cx="3810000" cy="646331"/>
          </a:xfrm>
          <a:prstGeom prst="homePlat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Times New Roman" panose="02020603050405020304" pitchFamily="18" charset="0"/>
                <a:cs typeface="Times New Roman" panose="02020603050405020304" pitchFamily="18" charset="0"/>
              </a:rPr>
              <a:t>2.1 Literature Review</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1C2018B6-1212-9B9F-D6DD-2D7D9A204F44}"/>
              </a:ext>
            </a:extLst>
          </p:cNvPr>
          <p:cNvSpPr/>
          <p:nvPr/>
        </p:nvSpPr>
        <p:spPr>
          <a:xfrm>
            <a:off x="2283758" y="196850"/>
            <a:ext cx="6125884" cy="6858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CHAPTER-2 Literature Review</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72E662E8-123B-5A81-870D-D7BDED3088B3}"/>
              </a:ext>
            </a:extLst>
          </p:cNvPr>
          <p:cNvSpPr>
            <a:spLocks noGrp="1"/>
          </p:cNvSpPr>
          <p:nvPr>
            <p:ph type="sldNum" sz="quarter" idx="12"/>
          </p:nvPr>
        </p:nvSpPr>
        <p:spPr/>
        <p:txBody>
          <a:bodyPr/>
          <a:lstStyle/>
          <a:p>
            <a:fld id="{B6F15528-21DE-4FAA-801E-634DDDAF4B2B}" type="slidenum">
              <a:rPr lang="en-IN" smtClean="0"/>
              <a:t>14</a:t>
            </a:fld>
            <a:endParaRPr lang="en-IN"/>
          </a:p>
        </p:txBody>
      </p:sp>
      <p:sp>
        <p:nvSpPr>
          <p:cNvPr id="7" name="TextBox 6">
            <a:extLst>
              <a:ext uri="{FF2B5EF4-FFF2-40B4-BE49-F238E27FC236}">
                <a16:creationId xmlns:a16="http://schemas.microsoft.com/office/drawing/2014/main" id="{404FE4E6-8F77-DA29-A352-FFB4F4CA87E9}"/>
              </a:ext>
            </a:extLst>
          </p:cNvPr>
          <p:cNvSpPr txBox="1"/>
          <p:nvPr/>
        </p:nvSpPr>
        <p:spPr>
          <a:xfrm>
            <a:off x="165100" y="2327142"/>
            <a:ext cx="10058400" cy="707886"/>
          </a:xfrm>
          <a:prstGeom prst="rect">
            <a:avLst/>
          </a:prstGeom>
          <a:noFill/>
        </p:spPr>
        <p:txBody>
          <a:bodyPr wrap="square">
            <a:spAutoFit/>
          </a:bodyPr>
          <a:lstStyle/>
          <a:p>
            <a:r>
              <a:rPr lang="en-US" sz="2000" b="1" i="0" u="sng" dirty="0">
                <a:solidFill>
                  <a:srgbClr val="0070C0"/>
                </a:solidFill>
                <a:effectLst/>
                <a:hlinkClick r:id="rId2">
                  <a:extLst>
                    <a:ext uri="{A12FA001-AC4F-418D-AE19-62706E023703}">
                      <ahyp:hlinkClr xmlns:ahyp="http://schemas.microsoft.com/office/drawing/2018/hyperlinkcolor" val="tx"/>
                    </a:ext>
                  </a:extLst>
                </a:hlinkClick>
              </a:rPr>
              <a:t>4. Analysis of Causes of Rail Derailment in India and Corrective Measures- PK Sen, Mahesh </a:t>
            </a:r>
            <a:r>
              <a:rPr lang="en-US" sz="2000" b="1" i="0" u="sng" dirty="0" err="1">
                <a:solidFill>
                  <a:srgbClr val="0070C0"/>
                </a:solidFill>
                <a:effectLst/>
                <a:hlinkClick r:id="rId2">
                  <a:extLst>
                    <a:ext uri="{A12FA001-AC4F-418D-AE19-62706E023703}">
                      <ahyp:hlinkClr xmlns:ahyp="http://schemas.microsoft.com/office/drawing/2018/hyperlinkcolor" val="tx"/>
                    </a:ext>
                  </a:extLst>
                </a:hlinkClick>
              </a:rPr>
              <a:t>Bhiwapurkar</a:t>
            </a:r>
            <a:r>
              <a:rPr lang="en-US" sz="2000" b="1" i="0" u="sng" dirty="0">
                <a:solidFill>
                  <a:srgbClr val="0070C0"/>
                </a:solidFill>
                <a:effectLst/>
                <a:hlinkClick r:id="rId2">
                  <a:extLst>
                    <a:ext uri="{A12FA001-AC4F-418D-AE19-62706E023703}">
                      <ahyp:hlinkClr xmlns:ahyp="http://schemas.microsoft.com/office/drawing/2018/hyperlinkcolor" val="tx"/>
                    </a:ext>
                  </a:extLst>
                </a:hlinkClick>
              </a:rPr>
              <a:t> and SP Harsha, </a:t>
            </a:r>
            <a:r>
              <a:rPr lang="en-IN" sz="2000" b="1" i="0" u="sng" dirty="0">
                <a:solidFill>
                  <a:srgbClr val="0070C0"/>
                </a:solidFill>
                <a:effectLst/>
                <a:hlinkClick r:id="rId2">
                  <a:extLst>
                    <a:ext uri="{A12FA001-AC4F-418D-AE19-62706E023703}">
                      <ahyp:hlinkClr xmlns:ahyp="http://schemas.microsoft.com/office/drawing/2018/hyperlinkcolor" val="tx"/>
                    </a:ext>
                  </a:extLst>
                </a:hlinkClick>
              </a:rPr>
              <a:t>Mechanical Engineering. Springer, Singapore, 2020</a:t>
            </a:r>
            <a:r>
              <a:rPr lang="en-US" sz="2000" b="1" i="0" u="sng" dirty="0">
                <a:solidFill>
                  <a:srgbClr val="0070C0"/>
                </a:solidFill>
                <a:effectLst/>
                <a:hlinkClick r:id="rId2">
                  <a:extLst>
                    <a:ext uri="{A12FA001-AC4F-418D-AE19-62706E023703}">
                      <ahyp:hlinkClr xmlns:ahyp="http://schemas.microsoft.com/office/drawing/2018/hyperlinkcolor" val="tx"/>
                    </a:ext>
                  </a:extLst>
                </a:hlinkClick>
              </a:rPr>
              <a:t> </a:t>
            </a:r>
            <a:endParaRPr lang="en-US" sz="2000" b="1" i="0" u="sng" dirty="0">
              <a:solidFill>
                <a:srgbClr val="0070C0"/>
              </a:solidFill>
              <a:effectLst/>
            </a:endParaRPr>
          </a:p>
        </p:txBody>
      </p:sp>
      <p:sp>
        <p:nvSpPr>
          <p:cNvPr id="14" name="TextBox 13">
            <a:extLst>
              <a:ext uri="{FF2B5EF4-FFF2-40B4-BE49-F238E27FC236}">
                <a16:creationId xmlns:a16="http://schemas.microsoft.com/office/drawing/2014/main" id="{873707C7-0483-CA0D-2E15-7B7BEF1DF22A}"/>
              </a:ext>
            </a:extLst>
          </p:cNvPr>
          <p:cNvSpPr txBox="1"/>
          <p:nvPr/>
        </p:nvSpPr>
        <p:spPr>
          <a:xfrm>
            <a:off x="165100" y="3111353"/>
            <a:ext cx="10058400" cy="3416320"/>
          </a:xfrm>
          <a:prstGeom prst="rect">
            <a:avLst/>
          </a:prstGeom>
          <a:noFill/>
        </p:spPr>
        <p:txBody>
          <a:bodyPr wrap="square">
            <a:spAutoFit/>
          </a:bodyPr>
          <a:lstStyle/>
          <a:p>
            <a:pPr algn="just"/>
            <a:r>
              <a:rPr lang="en-US" b="0" i="0" dirty="0">
                <a:effectLst/>
                <a:latin typeface="Times New Roman" panose="02020603050405020304" pitchFamily="18" charset="0"/>
                <a:cs typeface="Times New Roman" panose="02020603050405020304" pitchFamily="18" charset="0"/>
              </a:rPr>
              <a:t>Railways provide the cheapest and most convenient mode of passenger transport both for long distance and suburban traffic; also, it plays a significant role in the development and growth of industries. Even though there are several advantages and safety in railway transport, the frequency of train accidents is still increasing. A train derailment can result in severe injuries or even death to passengers, railroad employees and bystanders. In 2007, the Federal Railroad Administration (FRA) reported nearly 2000 derailments on tracks all over the country. Whereas approximately 373 train derailments were reported by Indian Railways from 2009 to 2015. In the same duration of 6 years, there were total 803 accidents in Indian Railways killing 620 people and injuring 1855 people. 47% of these accidents were due to derailment of trains. Therefore, the statistical analyses were conducted to examine the effects of accident causes in India for last ten years. The analysis showed that broken rails or welds were the leading cause of derailments. Because of the seriousness of railway accidents, the study also aims to suggest the possibilities of minimizing devastating consequences of vehicle derailments by appropriate measure.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8476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94A23F3E-CC92-878C-9088-1BEB14707728}"/>
              </a:ext>
            </a:extLst>
          </p:cNvPr>
          <p:cNvSpPr/>
          <p:nvPr/>
        </p:nvSpPr>
        <p:spPr>
          <a:xfrm>
            <a:off x="165100" y="1458702"/>
            <a:ext cx="3810000" cy="646331"/>
          </a:xfrm>
          <a:prstGeom prst="homePlat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Times New Roman" panose="02020603050405020304" pitchFamily="18" charset="0"/>
                <a:cs typeface="Times New Roman" panose="02020603050405020304" pitchFamily="18" charset="0"/>
              </a:rPr>
              <a:t>2.1 Literature Review</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1C2018B6-1212-9B9F-D6DD-2D7D9A204F44}"/>
              </a:ext>
            </a:extLst>
          </p:cNvPr>
          <p:cNvSpPr/>
          <p:nvPr/>
        </p:nvSpPr>
        <p:spPr>
          <a:xfrm>
            <a:off x="2283758" y="196850"/>
            <a:ext cx="6125884" cy="6858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CHAPTER-2 Literature Review</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72E662E8-123B-5A81-870D-D7BDED3088B3}"/>
              </a:ext>
            </a:extLst>
          </p:cNvPr>
          <p:cNvSpPr>
            <a:spLocks noGrp="1"/>
          </p:cNvSpPr>
          <p:nvPr>
            <p:ph type="sldNum" sz="quarter" idx="12"/>
          </p:nvPr>
        </p:nvSpPr>
        <p:spPr/>
        <p:txBody>
          <a:bodyPr/>
          <a:lstStyle/>
          <a:p>
            <a:fld id="{B6F15528-21DE-4FAA-801E-634DDDAF4B2B}" type="slidenum">
              <a:rPr lang="en-IN" smtClean="0"/>
              <a:t>15</a:t>
            </a:fld>
            <a:endParaRPr lang="en-IN"/>
          </a:p>
        </p:txBody>
      </p:sp>
      <p:sp>
        <p:nvSpPr>
          <p:cNvPr id="7" name="TextBox 6">
            <a:extLst>
              <a:ext uri="{FF2B5EF4-FFF2-40B4-BE49-F238E27FC236}">
                <a16:creationId xmlns:a16="http://schemas.microsoft.com/office/drawing/2014/main" id="{404FE4E6-8F77-DA29-A352-FFB4F4CA87E9}"/>
              </a:ext>
            </a:extLst>
          </p:cNvPr>
          <p:cNvSpPr txBox="1"/>
          <p:nvPr/>
        </p:nvSpPr>
        <p:spPr>
          <a:xfrm>
            <a:off x="165100" y="2309124"/>
            <a:ext cx="10058400" cy="1015663"/>
          </a:xfrm>
          <a:prstGeom prst="rect">
            <a:avLst/>
          </a:prstGeom>
          <a:noFill/>
        </p:spPr>
        <p:txBody>
          <a:bodyPr wrap="square">
            <a:spAutoFit/>
          </a:bodyPr>
          <a:lstStyle/>
          <a:p>
            <a:r>
              <a:rPr lang="en-US" sz="2000" b="1" u="sng" dirty="0">
                <a:solidFill>
                  <a:srgbClr val="0070C0"/>
                </a:solidFill>
                <a:hlinkClick r:id="rId2">
                  <a:extLst>
                    <a:ext uri="{A12FA001-AC4F-418D-AE19-62706E023703}">
                      <ahyp:hlinkClr xmlns:ahyp="http://schemas.microsoft.com/office/drawing/2018/hyperlinkcolor" val="tx"/>
                    </a:ext>
                  </a:extLst>
                </a:hlinkClick>
              </a:rPr>
              <a:t>5</a:t>
            </a:r>
            <a:r>
              <a:rPr lang="en-US" sz="2000" b="1" u="sng" dirty="0">
                <a:solidFill>
                  <a:srgbClr val="0070C0"/>
                </a:solidFill>
                <a:effectLst/>
                <a:hlinkClick r:id="rId2">
                  <a:extLst>
                    <a:ext uri="{A12FA001-AC4F-418D-AE19-62706E023703}">
                      <ahyp:hlinkClr xmlns:ahyp="http://schemas.microsoft.com/office/drawing/2018/hyperlinkcolor" val="tx"/>
                    </a:ext>
                  </a:extLst>
                </a:hlinkClick>
              </a:rPr>
              <a:t>. Indian Rail Track Investigation and Dynamic Analysis of Track Structure- </a:t>
            </a:r>
            <a:r>
              <a:rPr lang="en-IN" sz="2000" b="1" u="sng" dirty="0">
                <a:solidFill>
                  <a:srgbClr val="0070C0"/>
                </a:solidFill>
                <a:hlinkClick r:id="rId2">
                  <a:extLst>
                    <a:ext uri="{A12FA001-AC4F-418D-AE19-62706E023703}">
                      <ahyp:hlinkClr xmlns:ahyp="http://schemas.microsoft.com/office/drawing/2018/hyperlinkcolor" val="tx"/>
                    </a:ext>
                  </a:extLst>
                </a:hlinkClick>
              </a:rPr>
              <a:t>. Research scholar, Mechanical </a:t>
            </a:r>
            <a:r>
              <a:rPr lang="en-IN" sz="2000" b="1" u="sng" dirty="0" err="1">
                <a:solidFill>
                  <a:srgbClr val="0070C0"/>
                </a:solidFill>
                <a:hlinkClick r:id="rId2">
                  <a:extLst>
                    <a:ext uri="{A12FA001-AC4F-418D-AE19-62706E023703}">
                      <ahyp:hlinkClr xmlns:ahyp="http://schemas.microsoft.com/office/drawing/2018/hyperlinkcolor" val="tx"/>
                    </a:ext>
                  </a:extLst>
                </a:hlinkClick>
              </a:rPr>
              <a:t>Engg</a:t>
            </a:r>
            <a:r>
              <a:rPr lang="en-IN" sz="2000" b="1" u="sng" dirty="0">
                <a:solidFill>
                  <a:srgbClr val="0070C0"/>
                </a:solidFill>
                <a:hlinkClick r:id="rId2">
                  <a:extLst>
                    <a:ext uri="{A12FA001-AC4F-418D-AE19-62706E023703}">
                      <ahyp:hlinkClr xmlns:ahyp="http://schemas.microsoft.com/office/drawing/2018/hyperlinkcolor" val="tx"/>
                    </a:ext>
                  </a:extLst>
                </a:hlinkClick>
              </a:rPr>
              <a:t>. Dept. VJTI, Mumbai. sanjay.rukhande@fcrit.ac.in 2. Asst. Professor, Mechanical Engineering Department, VJTI, Mumbai</a:t>
            </a:r>
            <a:r>
              <a:rPr lang="en-US" sz="2000" b="1" u="sng" dirty="0">
                <a:solidFill>
                  <a:srgbClr val="0070C0"/>
                </a:solidFill>
                <a:hlinkClick r:id="rId2">
                  <a:extLst>
                    <a:ext uri="{A12FA001-AC4F-418D-AE19-62706E023703}">
                      <ahyp:hlinkClr xmlns:ahyp="http://schemas.microsoft.com/office/drawing/2018/hyperlinkcolor" val="tx"/>
                    </a:ext>
                  </a:extLst>
                </a:hlinkClick>
              </a:rPr>
              <a:t>, December, 2017</a:t>
            </a:r>
            <a:endParaRPr lang="en-US" sz="2000" b="1" u="sng" dirty="0">
              <a:solidFill>
                <a:srgbClr val="0070C0"/>
              </a:solidFill>
              <a:effectLst/>
            </a:endParaRPr>
          </a:p>
        </p:txBody>
      </p:sp>
      <p:sp>
        <p:nvSpPr>
          <p:cNvPr id="14" name="TextBox 13">
            <a:extLst>
              <a:ext uri="{FF2B5EF4-FFF2-40B4-BE49-F238E27FC236}">
                <a16:creationId xmlns:a16="http://schemas.microsoft.com/office/drawing/2014/main" id="{873707C7-0483-CA0D-2E15-7B7BEF1DF22A}"/>
              </a:ext>
            </a:extLst>
          </p:cNvPr>
          <p:cNvSpPr txBox="1"/>
          <p:nvPr/>
        </p:nvSpPr>
        <p:spPr>
          <a:xfrm>
            <a:off x="167409" y="3531507"/>
            <a:ext cx="10058400" cy="2585323"/>
          </a:xfrm>
          <a:prstGeom prst="rect">
            <a:avLst/>
          </a:prstGeom>
          <a:noFill/>
        </p:spPr>
        <p:txBody>
          <a:bodyPr wrap="square">
            <a:spAutoFit/>
          </a:bodyPr>
          <a:lstStyle/>
          <a:p>
            <a:pPr algn="just"/>
            <a:r>
              <a:rPr lang="en-US" b="0" i="0" dirty="0">
                <a:effectLst/>
                <a:latin typeface="Times New Roman" panose="02020603050405020304" pitchFamily="18" charset="0"/>
                <a:cs typeface="Times New Roman" panose="02020603050405020304" pitchFamily="18" charset="0"/>
              </a:rPr>
              <a:t>The track safety of Indian Railways (IR) is become very serious and important issue because of back to back train derailment. To improve rail safety key factor is to learn from the past accident by investigating and </a:t>
            </a:r>
            <a:r>
              <a:rPr lang="en-US" b="0" i="0" dirty="0" err="1">
                <a:effectLst/>
                <a:latin typeface="Times New Roman" panose="02020603050405020304" pitchFamily="18" charset="0"/>
                <a:cs typeface="Times New Roman" panose="02020603050405020304" pitchFamily="18" charset="0"/>
              </a:rPr>
              <a:t>analysing</a:t>
            </a:r>
            <a:r>
              <a:rPr lang="en-US" b="0" i="0" dirty="0">
                <a:effectLst/>
                <a:latin typeface="Times New Roman" panose="02020603050405020304" pitchFamily="18" charset="0"/>
                <a:cs typeface="Times New Roman" panose="02020603050405020304" pitchFamily="18" charset="0"/>
              </a:rPr>
              <a:t> it. Many accidents on Indian railways are caused by human error, poor maintenance. The major causes of derailment are rail fracture, weld failure, improper protection at work sites, rolling stock defects, unmanned crossing and signal passing at danger (SPAD) by loco pilots. There is need to adopt new technologies and </a:t>
            </a:r>
            <a:r>
              <a:rPr lang="en-US" b="0" i="0" dirty="0" err="1">
                <a:effectLst/>
                <a:latin typeface="Times New Roman" panose="02020603050405020304" pitchFamily="18" charset="0"/>
                <a:cs typeface="Times New Roman" panose="02020603050405020304" pitchFamily="18" charset="0"/>
              </a:rPr>
              <a:t>equipments</a:t>
            </a:r>
            <a:r>
              <a:rPr lang="en-US" b="0" i="0" dirty="0">
                <a:effectLst/>
                <a:latin typeface="Times New Roman" panose="02020603050405020304" pitchFamily="18" charset="0"/>
                <a:cs typeface="Times New Roman" panose="02020603050405020304" pitchFamily="18" charset="0"/>
              </a:rPr>
              <a:t> to avoid such incidences in future. In this paper an attempt is made to find the causes for the train derailments in IR. Track structure dynamic analysis by analytical method is carried out to check the vertical displacement of track. The transient analysis of the rail track using finite element analysis is performed with suitable assumptions and results are compared with the literature.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066817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 /><Relationship Id="rId1" Type="http://schemas.microsoft.com/office/2011/relationships/webextension" Target="webextension1.xml" /></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38"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728C2B95-7374-4B27-B4D6-970C1CB41812}">
  <we:reference id="wa200003964" version="1.0.0.0" store="en-US" storeType="OMEX"/>
  <we:alternateReferences>
    <we:reference id="WA200003964" version="1.0.0.0" store="WA200003964"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55D575CF-CC24-4188-8476-F2DE9D33D1B3}">
  <we:reference id="wa200003052" version="2.0.0.0" store="en-US" storeType="OMEX"/>
  <we:alternateReferences>
    <we:reference id="WA200003052" version="2.0.0.0" store="WA200003052"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Retrospect</Template>
  <TotalTime>273</TotalTime>
  <Words>2444</Words>
  <Application>Microsoft Office PowerPoint</Application>
  <PresentationFormat>Custom</PresentationFormat>
  <Paragraphs>182</Paragraphs>
  <Slides>15</Slides>
  <Notes>2</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pritam roy</cp:lastModifiedBy>
  <cp:revision>14</cp:revision>
  <dcterms:created xsi:type="dcterms:W3CDTF">2023-09-30T17:19:05Z</dcterms:created>
  <dcterms:modified xsi:type="dcterms:W3CDTF">2023-12-07T09:15:51Z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2023-09-30T00:00:00Z</vt:filetime>
  </property>
</Properties>
</file>